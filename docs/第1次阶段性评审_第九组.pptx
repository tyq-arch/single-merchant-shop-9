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71" r:id="rId4"/>
    <p:sldId id="276" r:id="rId5"/>
    <p:sldId id="280" r:id="rId6"/>
    <p:sldId id="257" r:id="rId7"/>
    <p:sldId id="258" r:id="rId8"/>
    <p:sldId id="278" r:id="rId9"/>
    <p:sldId id="269" r:id="rId10"/>
    <p:sldId id="260" r:id="rId11"/>
    <p:sldId id="261" r:id="rId12"/>
    <p:sldId id="270" r:id="rId13"/>
    <p:sldId id="264" r:id="rId14"/>
    <p:sldId id="262" r:id="rId15"/>
    <p:sldId id="263" r:id="rId16"/>
    <p:sldId id="279" r:id="rId17"/>
    <p:sldId id="285" r:id="rId18"/>
    <p:sldId id="286" r:id="rId19"/>
    <p:sldId id="284" r:id="rId20"/>
    <p:sldId id="287" r:id="rId21"/>
    <p:sldId id="288" r:id="rId22"/>
    <p:sldId id="289" r:id="rId23"/>
    <p:sldId id="290" r:id="rId24"/>
    <p:sldId id="291" r:id="rId25"/>
    <p:sldId id="277" r:id="rId26"/>
    <p:sldId id="281" r:id="rId27"/>
    <p:sldId id="292" r:id="rId28"/>
    <p:sldId id="293" r:id="rId29"/>
    <p:sldId id="283" r:id="rId30"/>
    <p:sldId id="266" r:id="rId31"/>
    <p:sldId id="272" r:id="rId32"/>
  </p:sldIdLst>
  <p:sldSz cx="12191365" cy="6858000" type="screen4x3"/>
  <p:notesSz cx="6858000" cy="9144000"/>
  <p:embeddedFontLst>
    <p:embeddedFont>
      <p:font typeface="微软雅黑" panose="020B0503020204020204" charset="-122"/>
      <p:regular r:id="rId36"/>
      <p:bold r:id="rId37"/>
    </p:embeddedFont>
    <p:embeddedFont>
      <p:font typeface="仿宋" panose="02010609060101010101" charset="-122"/>
      <p:regular r:id="rId38"/>
    </p:embeddedFont>
    <p:embeddedFont>
      <p:font typeface="方正仿宋_GB2312" panose="02000000000000000000" charset="-122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黑体" panose="02010609060101010101" charset="-122"/>
      <p:regular r:id="rId44"/>
    </p:embeddedFont>
    <p:embeddedFont>
      <p:font typeface="Impact" panose="020B0806030902050204" pitchFamily="34" charset="0"/>
      <p:regular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F5B8"/>
    <a:srgbClr val="EEF4FB"/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22"/>
        <p:guide pos="2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font" Target="fonts/font10.fntdata"/><Relationship Id="rId44" Type="http://schemas.openxmlformats.org/officeDocument/2006/relationships/font" Target="fonts/font9.fntdata"/><Relationship Id="rId43" Type="http://schemas.openxmlformats.org/officeDocument/2006/relationships/font" Target="fonts/font8.fntdata"/><Relationship Id="rId42" Type="http://schemas.openxmlformats.org/officeDocument/2006/relationships/font" Target="fonts/font7.fntdata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slide" Target="slides/slide2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051560"/>
            <a:ext cx="10515600" cy="182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98800"/>
            <a:ext cx="105156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第 1 次阶段性评审  ·  PHASE REVIEW 01</a:t>
            </a:r>
            <a:endParaRPr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805305"/>
            <a:ext cx="10515600" cy="95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5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</a:t>
            </a:r>
            <a:endParaRPr sz="5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4685" y="4069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先把规则定清楚，再动手写代码</a:t>
            </a:r>
            <a:endParaRPr sz="2000"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67528" y="3611880"/>
            <a:ext cx="1463040" cy="4114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6120" y="4069080"/>
            <a:ext cx="5696712" cy="1234440"/>
          </a:xfrm>
          <a:prstGeom prst="roundRect">
            <a:avLst>
              <a:gd name="adj" fmla="val 12000"/>
            </a:avLst>
          </a:prstGeom>
          <a:solidFill>
            <a:srgbClr val="EEF4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4179697"/>
            <a:ext cx="5212080" cy="965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项目组 9　|　组长：卢思晨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zh-CN" altLang="en-US"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组员：郭子涵，周育民，吴顺宝，缪茂锦</a:t>
            </a:r>
            <a:endParaRPr lang="zh-CN" altLang="en-US"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13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2026 年 10 月 8 日</a:t>
            </a:r>
            <a:endParaRPr sz="13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14"/>
          <p:cNvSpPr/>
          <p:nvPr>
            <p:custDataLst>
              <p:tags r:id="rId1"/>
            </p:custDataLst>
          </p:nvPr>
        </p:nvSpPr>
        <p:spPr>
          <a:xfrm rot="16200000" flipH="1">
            <a:off x="3718824" y="1371601"/>
            <a:ext cx="2114858" cy="2114857"/>
          </a:xfrm>
          <a:custGeom>
            <a:avLst/>
            <a:gdLst>
              <a:gd name="connsiteX0" fmla="*/ 0 w 1701029"/>
              <a:gd name="connsiteY0" fmla="*/ 1701028 h 1701028"/>
              <a:gd name="connsiteX1" fmla="*/ 591471 w 1701029"/>
              <a:gd name="connsiteY1" fmla="*/ 1701028 h 1701028"/>
              <a:gd name="connsiteX2" fmla="*/ 599788 w 1701029"/>
              <a:gd name="connsiteY2" fmla="*/ 1604677 h 1701028"/>
              <a:gd name="connsiteX3" fmla="*/ 636580 w 1701029"/>
              <a:gd name="connsiteY3" fmla="*/ 1465242 h 1701028"/>
              <a:gd name="connsiteX4" fmla="*/ 770912 w 1701029"/>
              <a:gd name="connsiteY4" fmla="*/ 1217700 h 1701028"/>
              <a:gd name="connsiteX5" fmla="*/ 985253 w 1701029"/>
              <a:gd name="connsiteY5" fmla="*/ 1041103 h 1701028"/>
              <a:gd name="connsiteX6" fmla="*/ 1263737 w 1701029"/>
              <a:gd name="connsiteY6" fmla="*/ 973931 h 1701028"/>
              <a:gd name="connsiteX7" fmla="*/ 1668258 w 1701029"/>
              <a:gd name="connsiteY7" fmla="*/ 1129407 h 1701028"/>
              <a:gd name="connsiteX8" fmla="*/ 1701029 w 1701029"/>
              <a:gd name="connsiteY8" fmla="*/ 1158547 h 1701028"/>
              <a:gd name="connsiteX9" fmla="*/ 1701029 w 1701029"/>
              <a:gd name="connsiteY9" fmla="*/ 0 h 1701028"/>
              <a:gd name="connsiteX10" fmla="*/ 1567916 w 1701029"/>
              <a:gd name="connsiteY10" fmla="*/ 6722 h 1701028"/>
              <a:gd name="connsiteX11" fmla="*/ 6721 w 1701029"/>
              <a:gd name="connsiteY11" fmla="*/ 1567917 h 1701028"/>
              <a:gd name="connsiteX12" fmla="*/ 0 w 1701029"/>
              <a:gd name="connsiteY12" fmla="*/ 1701028 h 170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01029" h="1701028">
                <a:moveTo>
                  <a:pt x="0" y="1701028"/>
                </a:moveTo>
                <a:lnTo>
                  <a:pt x="591471" y="1701028"/>
                </a:lnTo>
                <a:lnTo>
                  <a:pt x="599788" y="1604677"/>
                </a:lnTo>
                <a:cubicBezTo>
                  <a:pt x="607964" y="1557759"/>
                  <a:pt x="620228" y="1511281"/>
                  <a:pt x="636580" y="1465242"/>
                </a:cubicBezTo>
                <a:cubicBezTo>
                  <a:pt x="669284" y="1373175"/>
                  <a:pt x="714057" y="1290657"/>
                  <a:pt x="770912" y="1217700"/>
                </a:cubicBezTo>
                <a:cubicBezTo>
                  <a:pt x="827765" y="1144754"/>
                  <a:pt x="899209" y="1085876"/>
                  <a:pt x="985253" y="1041103"/>
                </a:cubicBezTo>
                <a:cubicBezTo>
                  <a:pt x="1071285" y="996317"/>
                  <a:pt x="1164109" y="973931"/>
                  <a:pt x="1263737" y="973931"/>
                </a:cubicBezTo>
                <a:cubicBezTo>
                  <a:pt x="1419709" y="973931"/>
                  <a:pt x="1554550" y="1025757"/>
                  <a:pt x="1668258" y="1129407"/>
                </a:cubicBezTo>
                <a:lnTo>
                  <a:pt x="1701029" y="1158547"/>
                </a:lnTo>
                <a:lnTo>
                  <a:pt x="1701029" y="0"/>
                </a:lnTo>
                <a:lnTo>
                  <a:pt x="1567916" y="6722"/>
                </a:lnTo>
                <a:cubicBezTo>
                  <a:pt x="744743" y="90320"/>
                  <a:pt x="90319" y="744743"/>
                  <a:pt x="6721" y="1567917"/>
                </a:cubicBezTo>
                <a:lnTo>
                  <a:pt x="0" y="1701028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15"/>
          <p:cNvSpPr/>
          <p:nvPr>
            <p:custDataLst>
              <p:tags r:id="rId2"/>
            </p:custDataLst>
          </p:nvPr>
        </p:nvSpPr>
        <p:spPr>
          <a:xfrm rot="16200000" flipH="1">
            <a:off x="5947366" y="1371602"/>
            <a:ext cx="2114858" cy="2114856"/>
          </a:xfrm>
          <a:custGeom>
            <a:avLst/>
            <a:gdLst>
              <a:gd name="connsiteX0" fmla="*/ 0 w 1701029"/>
              <a:gd name="connsiteY0" fmla="*/ 0 h 1701027"/>
              <a:gd name="connsiteX1" fmla="*/ 6721 w 1701029"/>
              <a:gd name="connsiteY1" fmla="*/ 133111 h 1701027"/>
              <a:gd name="connsiteX2" fmla="*/ 1567916 w 1701029"/>
              <a:gd name="connsiteY2" fmla="*/ 1694306 h 1701027"/>
              <a:gd name="connsiteX3" fmla="*/ 1701029 w 1701029"/>
              <a:gd name="connsiteY3" fmla="*/ 1701027 h 1701027"/>
              <a:gd name="connsiteX4" fmla="*/ 1701029 w 1701029"/>
              <a:gd name="connsiteY4" fmla="*/ 542485 h 1701027"/>
              <a:gd name="connsiteX5" fmla="*/ 1668258 w 1701029"/>
              <a:gd name="connsiteY5" fmla="*/ 571623 h 1701027"/>
              <a:gd name="connsiteX6" fmla="*/ 1263737 w 1701029"/>
              <a:gd name="connsiteY6" fmla="*/ 727099 h 1701027"/>
              <a:gd name="connsiteX7" fmla="*/ 985253 w 1701029"/>
              <a:gd name="connsiteY7" fmla="*/ 659927 h 1701027"/>
              <a:gd name="connsiteX8" fmla="*/ 770912 w 1701029"/>
              <a:gd name="connsiteY8" fmla="*/ 483331 h 1701027"/>
              <a:gd name="connsiteX9" fmla="*/ 636580 w 1701029"/>
              <a:gd name="connsiteY9" fmla="*/ 235788 h 1701027"/>
              <a:gd name="connsiteX10" fmla="*/ 599788 w 1701029"/>
              <a:gd name="connsiteY10" fmla="*/ 96356 h 1701027"/>
              <a:gd name="connsiteX11" fmla="*/ 591470 w 1701029"/>
              <a:gd name="connsiteY11" fmla="*/ 0 h 1701027"/>
              <a:gd name="connsiteX12" fmla="*/ 0 w 1701029"/>
              <a:gd name="connsiteY12" fmla="*/ 0 h 170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701029" h="1701027">
                <a:moveTo>
                  <a:pt x="0" y="0"/>
                </a:moveTo>
                <a:lnTo>
                  <a:pt x="6721" y="133111"/>
                </a:lnTo>
                <a:cubicBezTo>
                  <a:pt x="90319" y="956285"/>
                  <a:pt x="744743" y="1610708"/>
                  <a:pt x="1567916" y="1694306"/>
                </a:cubicBezTo>
                <a:lnTo>
                  <a:pt x="1701029" y="1701027"/>
                </a:lnTo>
                <a:lnTo>
                  <a:pt x="1701029" y="542485"/>
                </a:lnTo>
                <a:lnTo>
                  <a:pt x="1668258" y="571623"/>
                </a:lnTo>
                <a:cubicBezTo>
                  <a:pt x="1554550" y="675274"/>
                  <a:pt x="1419709" y="727099"/>
                  <a:pt x="1263737" y="727099"/>
                </a:cubicBezTo>
                <a:cubicBezTo>
                  <a:pt x="1164109" y="727099"/>
                  <a:pt x="1071285" y="704712"/>
                  <a:pt x="985253" y="659927"/>
                </a:cubicBezTo>
                <a:cubicBezTo>
                  <a:pt x="899209" y="615153"/>
                  <a:pt x="827765" y="556277"/>
                  <a:pt x="770912" y="483331"/>
                </a:cubicBezTo>
                <a:cubicBezTo>
                  <a:pt x="714057" y="410372"/>
                  <a:pt x="669284" y="327855"/>
                  <a:pt x="636580" y="235788"/>
                </a:cubicBezTo>
                <a:cubicBezTo>
                  <a:pt x="620228" y="189749"/>
                  <a:pt x="607964" y="143272"/>
                  <a:pt x="599788" y="96356"/>
                </a:cubicBezTo>
                <a:lnTo>
                  <a:pt x="59147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16"/>
          <p:cNvSpPr/>
          <p:nvPr>
            <p:custDataLst>
              <p:tags r:id="rId3"/>
            </p:custDataLst>
          </p:nvPr>
        </p:nvSpPr>
        <p:spPr>
          <a:xfrm rot="16200000" flipH="1">
            <a:off x="3718825" y="3600143"/>
            <a:ext cx="2114855" cy="2114857"/>
          </a:xfrm>
          <a:custGeom>
            <a:avLst/>
            <a:gdLst>
              <a:gd name="connsiteX0" fmla="*/ 0 w 1701026"/>
              <a:gd name="connsiteY0" fmla="*/ 0 h 1701028"/>
              <a:gd name="connsiteX1" fmla="*/ 0 w 1701026"/>
              <a:gd name="connsiteY1" fmla="*/ 1236031 h 1701028"/>
              <a:gd name="connsiteX2" fmla="*/ 7104 w 1701026"/>
              <a:gd name="connsiteY2" fmla="*/ 1241849 h 1701028"/>
              <a:gd name="connsiteX3" fmla="*/ 151256 w 1701026"/>
              <a:gd name="connsiteY3" fmla="*/ 1331668 h 1701028"/>
              <a:gd name="connsiteX4" fmla="*/ 313512 w 1701026"/>
              <a:gd name="connsiteY4" fmla="*/ 1382984 h 1701028"/>
              <a:gd name="connsiteX5" fmla="*/ 437289 w 1701026"/>
              <a:gd name="connsiteY5" fmla="*/ 1312038 h 1701028"/>
              <a:gd name="connsiteX6" fmla="*/ 533888 w 1701026"/>
              <a:gd name="connsiteY6" fmla="*/ 1349771 h 1701028"/>
              <a:gd name="connsiteX7" fmla="*/ 630487 w 1701026"/>
              <a:gd name="connsiteY7" fmla="*/ 1312038 h 1701028"/>
              <a:gd name="connsiteX8" fmla="*/ 752750 w 1701026"/>
              <a:gd name="connsiteY8" fmla="*/ 1379967 h 1701028"/>
              <a:gd name="connsiteX9" fmla="*/ 823696 w 1701026"/>
              <a:gd name="connsiteY9" fmla="*/ 1360338 h 1701028"/>
              <a:gd name="connsiteX10" fmla="*/ 930860 w 1701026"/>
              <a:gd name="connsiteY10" fmla="*/ 1407891 h 1701028"/>
              <a:gd name="connsiteX11" fmla="*/ 968594 w 1701026"/>
              <a:gd name="connsiteY11" fmla="*/ 1524864 h 1701028"/>
              <a:gd name="connsiteX12" fmla="*/ 1074256 w 1701026"/>
              <a:gd name="connsiteY12" fmla="*/ 1615429 h 1701028"/>
              <a:gd name="connsiteX13" fmla="*/ 1103690 w 1701026"/>
              <a:gd name="connsiteY13" fmla="*/ 1678447 h 1701028"/>
              <a:gd name="connsiteX14" fmla="*/ 1106934 w 1701026"/>
              <a:gd name="connsiteY14" fmla="*/ 1701028 h 1701028"/>
              <a:gd name="connsiteX15" fmla="*/ 1701026 w 1701026"/>
              <a:gd name="connsiteY15" fmla="*/ 1701028 h 1701028"/>
              <a:gd name="connsiteX16" fmla="*/ 1694305 w 1701026"/>
              <a:gd name="connsiteY16" fmla="*/ 1567917 h 1701028"/>
              <a:gd name="connsiteX17" fmla="*/ 133110 w 1701026"/>
              <a:gd name="connsiteY17" fmla="*/ 6722 h 1701028"/>
              <a:gd name="connsiteX18" fmla="*/ 0 w 1701026"/>
              <a:gd name="connsiteY18" fmla="*/ 0 h 1701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01026" h="1701028">
                <a:moveTo>
                  <a:pt x="0" y="0"/>
                </a:moveTo>
                <a:lnTo>
                  <a:pt x="0" y="1236031"/>
                </a:lnTo>
                <a:lnTo>
                  <a:pt x="7104" y="1241849"/>
                </a:lnTo>
                <a:cubicBezTo>
                  <a:pt x="45346" y="1271537"/>
                  <a:pt x="93397" y="1301472"/>
                  <a:pt x="151256" y="1331668"/>
                </a:cubicBezTo>
                <a:cubicBezTo>
                  <a:pt x="209117" y="1361852"/>
                  <a:pt x="263202" y="1378961"/>
                  <a:pt x="313512" y="1382984"/>
                </a:cubicBezTo>
                <a:cubicBezTo>
                  <a:pt x="341685" y="1335690"/>
                  <a:pt x="382944" y="1312038"/>
                  <a:pt x="437289" y="1312038"/>
                </a:cubicBezTo>
                <a:cubicBezTo>
                  <a:pt x="474514" y="1312038"/>
                  <a:pt x="506722" y="1324616"/>
                  <a:pt x="533888" y="1349771"/>
                </a:cubicBezTo>
                <a:cubicBezTo>
                  <a:pt x="561056" y="1324616"/>
                  <a:pt x="593263" y="1312038"/>
                  <a:pt x="630487" y="1312038"/>
                </a:cubicBezTo>
                <a:cubicBezTo>
                  <a:pt x="682821" y="1312038"/>
                  <a:pt x="723571" y="1334685"/>
                  <a:pt x="752750" y="1379967"/>
                </a:cubicBezTo>
                <a:cubicBezTo>
                  <a:pt x="775894" y="1366881"/>
                  <a:pt x="799546" y="1360338"/>
                  <a:pt x="823696" y="1360338"/>
                </a:cubicBezTo>
                <a:cubicBezTo>
                  <a:pt x="869983" y="1360338"/>
                  <a:pt x="905705" y="1376192"/>
                  <a:pt x="930860" y="1407891"/>
                </a:cubicBezTo>
                <a:cubicBezTo>
                  <a:pt x="956015" y="1439590"/>
                  <a:pt x="968594" y="1478577"/>
                  <a:pt x="968594" y="1524864"/>
                </a:cubicBezTo>
                <a:cubicBezTo>
                  <a:pt x="1012870" y="1544991"/>
                  <a:pt x="1048095" y="1575176"/>
                  <a:pt x="1074256" y="1615429"/>
                </a:cubicBezTo>
                <a:cubicBezTo>
                  <a:pt x="1087336" y="1635555"/>
                  <a:pt x="1097148" y="1656560"/>
                  <a:pt x="1103690" y="1678447"/>
                </a:cubicBezTo>
                <a:lnTo>
                  <a:pt x="1106934" y="1701028"/>
                </a:lnTo>
                <a:lnTo>
                  <a:pt x="1701026" y="1701028"/>
                </a:lnTo>
                <a:lnTo>
                  <a:pt x="1694305" y="1567917"/>
                </a:lnTo>
                <a:cubicBezTo>
                  <a:pt x="1610707" y="744743"/>
                  <a:pt x="956284" y="90320"/>
                  <a:pt x="133110" y="672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17"/>
          <p:cNvSpPr/>
          <p:nvPr>
            <p:custDataLst>
              <p:tags r:id="rId4"/>
            </p:custDataLst>
          </p:nvPr>
        </p:nvSpPr>
        <p:spPr>
          <a:xfrm rot="16200000" flipH="1">
            <a:off x="5947367" y="3600144"/>
            <a:ext cx="2114855" cy="2114856"/>
          </a:xfrm>
          <a:custGeom>
            <a:avLst/>
            <a:gdLst>
              <a:gd name="connsiteX0" fmla="*/ 0 w 1701026"/>
              <a:gd name="connsiteY0" fmla="*/ 464999 h 1701027"/>
              <a:gd name="connsiteX1" fmla="*/ 0 w 1701026"/>
              <a:gd name="connsiteY1" fmla="*/ 1701027 h 1701027"/>
              <a:gd name="connsiteX2" fmla="*/ 133110 w 1701026"/>
              <a:gd name="connsiteY2" fmla="*/ 1694306 h 1701027"/>
              <a:gd name="connsiteX3" fmla="*/ 1694305 w 1701026"/>
              <a:gd name="connsiteY3" fmla="*/ 133111 h 1701027"/>
              <a:gd name="connsiteX4" fmla="*/ 1701026 w 1701026"/>
              <a:gd name="connsiteY4" fmla="*/ 0 h 1701027"/>
              <a:gd name="connsiteX5" fmla="*/ 1106935 w 1701026"/>
              <a:gd name="connsiteY5" fmla="*/ 0 h 1701027"/>
              <a:gd name="connsiteX6" fmla="*/ 1103690 w 1701026"/>
              <a:gd name="connsiteY6" fmla="*/ 22585 h 1701027"/>
              <a:gd name="connsiteX7" fmla="*/ 1074256 w 1701026"/>
              <a:gd name="connsiteY7" fmla="*/ 85602 h 1701027"/>
              <a:gd name="connsiteX8" fmla="*/ 968594 w 1701026"/>
              <a:gd name="connsiteY8" fmla="*/ 176165 h 1701027"/>
              <a:gd name="connsiteX9" fmla="*/ 930860 w 1701026"/>
              <a:gd name="connsiteY9" fmla="*/ 293139 h 1701027"/>
              <a:gd name="connsiteX10" fmla="*/ 823696 w 1701026"/>
              <a:gd name="connsiteY10" fmla="*/ 340693 h 1701027"/>
              <a:gd name="connsiteX11" fmla="*/ 752750 w 1701026"/>
              <a:gd name="connsiteY11" fmla="*/ 321063 h 1701027"/>
              <a:gd name="connsiteX12" fmla="*/ 630487 w 1701026"/>
              <a:gd name="connsiteY12" fmla="*/ 388992 h 1701027"/>
              <a:gd name="connsiteX13" fmla="*/ 533888 w 1701026"/>
              <a:gd name="connsiteY13" fmla="*/ 351259 h 1701027"/>
              <a:gd name="connsiteX14" fmla="*/ 437289 w 1701026"/>
              <a:gd name="connsiteY14" fmla="*/ 388992 h 1701027"/>
              <a:gd name="connsiteX15" fmla="*/ 313512 w 1701026"/>
              <a:gd name="connsiteY15" fmla="*/ 318046 h 1701027"/>
              <a:gd name="connsiteX16" fmla="*/ 151256 w 1701026"/>
              <a:gd name="connsiteY16" fmla="*/ 369363 h 1701027"/>
              <a:gd name="connsiteX17" fmla="*/ 7104 w 1701026"/>
              <a:gd name="connsiteY17" fmla="*/ 459181 h 1701027"/>
              <a:gd name="connsiteX18" fmla="*/ 0 w 1701026"/>
              <a:gd name="connsiteY18" fmla="*/ 464999 h 170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701026" h="1701027">
                <a:moveTo>
                  <a:pt x="0" y="464999"/>
                </a:moveTo>
                <a:lnTo>
                  <a:pt x="0" y="1701027"/>
                </a:lnTo>
                <a:lnTo>
                  <a:pt x="133110" y="1694306"/>
                </a:lnTo>
                <a:cubicBezTo>
                  <a:pt x="956284" y="1610708"/>
                  <a:pt x="1610707" y="956285"/>
                  <a:pt x="1694305" y="133111"/>
                </a:cubicBezTo>
                <a:lnTo>
                  <a:pt x="1701026" y="0"/>
                </a:lnTo>
                <a:lnTo>
                  <a:pt x="1106935" y="0"/>
                </a:lnTo>
                <a:lnTo>
                  <a:pt x="1103690" y="22585"/>
                </a:lnTo>
                <a:cubicBezTo>
                  <a:pt x="1097148" y="44470"/>
                  <a:pt x="1087336" y="65475"/>
                  <a:pt x="1074256" y="85602"/>
                </a:cubicBezTo>
                <a:cubicBezTo>
                  <a:pt x="1048095" y="125855"/>
                  <a:pt x="1012870" y="156039"/>
                  <a:pt x="968594" y="176165"/>
                </a:cubicBezTo>
                <a:cubicBezTo>
                  <a:pt x="968594" y="222454"/>
                  <a:pt x="956015" y="261440"/>
                  <a:pt x="930860" y="293139"/>
                </a:cubicBezTo>
                <a:cubicBezTo>
                  <a:pt x="905705" y="324837"/>
                  <a:pt x="869983" y="340693"/>
                  <a:pt x="823696" y="340693"/>
                </a:cubicBezTo>
                <a:cubicBezTo>
                  <a:pt x="799546" y="340693"/>
                  <a:pt x="775894" y="334150"/>
                  <a:pt x="752750" y="321063"/>
                </a:cubicBezTo>
                <a:cubicBezTo>
                  <a:pt x="723571" y="366345"/>
                  <a:pt x="682821" y="388992"/>
                  <a:pt x="630487" y="388992"/>
                </a:cubicBezTo>
                <a:cubicBezTo>
                  <a:pt x="593263" y="388992"/>
                  <a:pt x="561056" y="376415"/>
                  <a:pt x="533888" y="351259"/>
                </a:cubicBezTo>
                <a:cubicBezTo>
                  <a:pt x="506722" y="376415"/>
                  <a:pt x="474514" y="388992"/>
                  <a:pt x="437289" y="388992"/>
                </a:cubicBezTo>
                <a:cubicBezTo>
                  <a:pt x="382944" y="388992"/>
                  <a:pt x="341685" y="365339"/>
                  <a:pt x="313512" y="318046"/>
                </a:cubicBezTo>
                <a:cubicBezTo>
                  <a:pt x="263202" y="322068"/>
                  <a:pt x="209117" y="339179"/>
                  <a:pt x="151256" y="369363"/>
                </a:cubicBezTo>
                <a:cubicBezTo>
                  <a:pt x="93397" y="399559"/>
                  <a:pt x="45346" y="429494"/>
                  <a:pt x="7104" y="459181"/>
                </a:cubicBezTo>
                <a:lnTo>
                  <a:pt x="0" y="464999"/>
                </a:lnTo>
                <a:close/>
              </a:path>
            </a:pathLst>
          </a:custGeom>
          <a:solidFill>
            <a:srgbClr val="1F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18"/>
          <p:cNvSpPr txBox="1"/>
          <p:nvPr/>
        </p:nvSpPr>
        <p:spPr>
          <a:xfrm>
            <a:off x="5113920" y="2579292"/>
            <a:ext cx="15544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>
                <a:solidFill>
                  <a:schemeClr val="tx2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charset="0"/>
              </a:rPr>
              <a:t>目录</a:t>
            </a:r>
            <a:endParaRPr lang="zh-CN" altLang="en-US" sz="5400">
              <a:solidFill>
                <a:schemeClr val="tx2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charset="0"/>
            </a:endParaRPr>
          </a:p>
        </p:txBody>
      </p:sp>
      <p:sp>
        <p:nvSpPr>
          <p:cNvPr id="29" name="Rectangle 19"/>
          <p:cNvSpPr/>
          <p:nvPr/>
        </p:nvSpPr>
        <p:spPr>
          <a:xfrm>
            <a:off x="5732468" y="2579412"/>
            <a:ext cx="3161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2">
                    <a:lumMod val="75000"/>
                  </a:schemeClr>
                </a:solidFill>
                <a:latin typeface="FontAwesome" pitchFamily="2" charset="0"/>
              </a:rPr>
              <a:t></a:t>
            </a:r>
            <a:endParaRPr 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Box 8"/>
          <p:cNvSpPr txBox="1"/>
          <p:nvPr>
            <p:custDataLst>
              <p:tags r:id="rId5"/>
            </p:custDataLst>
          </p:nvPr>
        </p:nvSpPr>
        <p:spPr>
          <a:xfrm>
            <a:off x="4137023" y="2840128"/>
            <a:ext cx="713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  <a:endParaRPr lang="en-US" sz="3600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TextBox 23"/>
          <p:cNvSpPr txBox="1"/>
          <p:nvPr>
            <p:custDataLst>
              <p:tags r:id="rId6"/>
            </p:custDataLst>
          </p:nvPr>
        </p:nvSpPr>
        <p:spPr>
          <a:xfrm>
            <a:off x="6930368" y="2840127"/>
            <a:ext cx="713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  <a:endParaRPr lang="en-US" sz="3600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Box 24"/>
          <p:cNvSpPr txBox="1"/>
          <p:nvPr>
            <p:custDataLst>
              <p:tags r:id="rId7"/>
            </p:custDataLst>
          </p:nvPr>
        </p:nvSpPr>
        <p:spPr>
          <a:xfrm>
            <a:off x="4137023" y="3600143"/>
            <a:ext cx="713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04</a:t>
            </a:r>
            <a:endParaRPr lang="en-US" sz="3600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3" name="TextBox 25"/>
          <p:cNvSpPr txBox="1"/>
          <p:nvPr>
            <p:custDataLst>
              <p:tags r:id="rId8"/>
            </p:custDataLst>
          </p:nvPr>
        </p:nvSpPr>
        <p:spPr>
          <a:xfrm>
            <a:off x="6930368" y="3600143"/>
            <a:ext cx="713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  <a:endParaRPr lang="en-US" sz="3600" b="1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文本框 33"/>
          <p:cNvSpPr txBox="1"/>
          <p:nvPr>
            <p:custDataLst>
              <p:tags r:id="rId9"/>
            </p:custDataLst>
          </p:nvPr>
        </p:nvSpPr>
        <p:spPr>
          <a:xfrm>
            <a:off x="1390015" y="1957705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系统概览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8061960" y="188722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需求</a:t>
            </a:r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设计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1390015" y="409702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前端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8061960" y="4062095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后端测试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-661714" y="1246957"/>
            <a:ext cx="9059917" cy="1354185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>
            <a:defPPr>
              <a:defRPr lang="zh-CN"/>
            </a:defPPr>
            <a:lvl1pPr algn="ctr">
              <a:defRPr sz="8800">
                <a:gradFill>
                  <a:gsLst>
                    <a:gs pos="0">
                      <a:srgbClr val="00B0F0"/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2400000" scaled="0"/>
                </a:gradFill>
                <a:effectLst>
                  <a:outerShdw blurRad="317500" dist="165100" dir="2700000" algn="tl" rotWithShape="0">
                    <a:prstClr val="black">
                      <a:alpha val="60000"/>
                    </a:prst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en-US" altLang="zh-CN" sz="8000" b="1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ONE</a:t>
            </a:r>
            <a:endParaRPr lang="zh-CN" altLang="en-US" sz="8000" b="1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1598930" y="283464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系统概览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" y="698500"/>
            <a:ext cx="575754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2272665"/>
            <a:ext cx="6503035" cy="35185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4" name="表格 33"/>
          <p:cNvGraphicFramePr/>
          <p:nvPr>
            <p:custDataLst>
              <p:tags r:id="rId1"/>
            </p:custDataLst>
          </p:nvPr>
        </p:nvGraphicFramePr>
        <p:xfrm>
          <a:off x="793115" y="902335"/>
          <a:ext cx="10474960" cy="506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405"/>
                <a:gridCol w="7869555"/>
              </a:tblGrid>
              <a:tr h="800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成员</a:t>
                      </a:r>
                      <a:endParaRPr lang="zh-CN" altLang="en-US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/>
                        <a:t>负责内容</a:t>
                      </a:r>
                      <a:endParaRPr lang="zh-CN" altLang="en-US" sz="3200"/>
                    </a:p>
                  </a:txBody>
                  <a:tcPr/>
                </a:tc>
              </a:tr>
              <a:tr h="8083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周育民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项目需求分析、业务流程梳理、系统建模、用例图、领域类图、商品状态图、所有设计类文档撰写。</a:t>
                      </a:r>
                      <a:endParaRPr lang="zh-CN" altLang="en-US" sz="2000"/>
                    </a:p>
                  </a:txBody>
                  <a:tcPr/>
                </a:tc>
              </a:tr>
              <a:tr h="800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郭子涵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技术栈调研、数据库结构设计、后端环境搭建、后端接口开发、核心业务逻辑编码、后端调试。</a:t>
                      </a:r>
                      <a:endParaRPr lang="zh-CN" altLang="en-US" sz="2000"/>
                    </a:p>
                  </a:txBody>
                  <a:tcPr/>
                </a:tc>
              </a:tr>
              <a:tr h="8001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吴顺宝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前端技术调研、页面原型设计、前端页面编写、</a:t>
                      </a:r>
                      <a:r>
                        <a:rPr lang="en-US" altLang="zh-CN" sz="2000"/>
                        <a:t>UI</a:t>
                      </a:r>
                      <a:r>
                        <a:rPr lang="zh-CN" altLang="en-US" sz="2000"/>
                        <a:t>布局美化、页面交互实现、前端调试。</a:t>
                      </a:r>
                      <a:endParaRPr lang="zh-CN" altLang="en-US" sz="2000"/>
                    </a:p>
                  </a:txBody>
                  <a:tcPr/>
                </a:tc>
              </a:tr>
              <a:tr h="8007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缪茂锦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000"/>
                        <a:t>项目各阶段功能测试、</a:t>
                      </a:r>
                      <a:r>
                        <a:rPr lang="en-US" altLang="zh-CN" sz="2000"/>
                        <a:t>BUG</a:t>
                      </a:r>
                      <a:r>
                        <a:rPr lang="zh-CN" altLang="en-US" sz="2000"/>
                        <a:t>记录与汇总、测试报告编写、功能验收校验、上线合规检查。</a:t>
                      </a:r>
                      <a:endParaRPr lang="zh-CN" altLang="en-US" sz="2000"/>
                    </a:p>
                  </a:txBody>
                  <a:tcPr/>
                </a:tc>
              </a:tr>
              <a:tr h="105092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卢思晨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/>
                        <a:t>GitHub</a:t>
                      </a:r>
                      <a:r>
                        <a:rPr lang="zh-CN" altLang="en-US" sz="2000"/>
                        <a:t>仓库搭建与管理、分支规范维护、全部</a:t>
                      </a:r>
                      <a:r>
                        <a:rPr lang="en-US" altLang="zh-CN" sz="2000"/>
                        <a:t>Wiki</a:t>
                      </a:r>
                      <a:r>
                        <a:rPr lang="zh-CN" altLang="en-US" sz="2000"/>
                        <a:t>页面搭建更新、每一次迭代评审报告撰写、阶段性</a:t>
                      </a:r>
                      <a:r>
                        <a:rPr lang="en-US" altLang="zh-CN" sz="2000"/>
                        <a:t>PPT</a:t>
                      </a:r>
                      <a:r>
                        <a:rPr lang="zh-CN" altLang="en-US" sz="2000"/>
                        <a:t>制作、答辩主讲、项目进度统筹、所有成果物汇总整理、格式校对与提交通道对接。</a:t>
                      </a:r>
                      <a:endParaRPr lang="zh-CN" altLang="en-US" sz="2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这是一个什么样的系统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55680" cy="247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14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三个和普通电商不一样的地方</a:t>
            </a:r>
            <a:endParaRPr lang="zh-CN" sz="14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系统概览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1417320"/>
            <a:ext cx="11183112" cy="841248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1417320"/>
            <a:ext cx="82296" cy="8412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508760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0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唯一卖家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68880" y="1674813"/>
            <a:ext cx="603504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</a:rPr>
              <a:t>账号固定指定、无注册，连退出登录都不需要</a:t>
            </a:r>
            <a:endParaRPr sz="2000"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0" y="1508760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卖家身份内置于系统，不存在多卖家竞争</a:t>
            </a:r>
            <a:endParaRPr sz="1150"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350008"/>
            <a:ext cx="1118311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50008"/>
            <a:ext cx="82296" cy="8412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441448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0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匿名买家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68880" y="2466530"/>
            <a:ext cx="6035040" cy="6356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</a:rPr>
              <a:t>不注册不登录，姓名电话仅用于本次交易，靠一串口令码认领自己的意向</a:t>
            </a:r>
            <a:endParaRPr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86800" y="2441448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无账号体系，用「临时凭证」完成身份闭环</a:t>
            </a:r>
            <a:endParaRPr sz="1150"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11183112" cy="841248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282696"/>
            <a:ext cx="82296" cy="8412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74136"/>
            <a:ext cx="15544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20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0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线下交易</a:t>
            </a:r>
            <a:endParaRPr sz="15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68880" y="3558286"/>
            <a:ext cx="6035040" cy="317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0" i="0">
                <a:solidFill>
                  <a:srgbClr val="404040"/>
                </a:solidFill>
                <a:latin typeface="仿宋" panose="02010609060101010101" charset="-122"/>
                <a:ea typeface="仿宋" panose="02010609060101010101" charset="-122"/>
              </a:rPr>
              <a:t>没有支付模块，一手交钱一手交货，由卖家标记成败</a:t>
            </a:r>
            <a:endParaRPr b="0" i="0">
              <a:solidFill>
                <a:srgbClr val="40404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0" y="3374136"/>
            <a:ext cx="2880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交易闭环靠状态机驱动，而非资金流转</a:t>
            </a:r>
            <a:endParaRPr sz="1150"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430682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▎设计对比：普通电商 → 本系统</a:t>
            </a:r>
            <a:endParaRPr sz="1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02920" y="4690872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292608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普通电商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本系统</a:t>
                      </a:r>
                      <a:endParaRPr sz="11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交易方式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购物车加购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一次只卖一件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身份体系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注册账号 / 登录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口令码认领，无账号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资金流转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在线支付 / 退款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线下交付，卖家标记成败</a:t>
                      </a:r>
                      <a:endParaRPr sz="1150" b="0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092440" y="4736592"/>
            <a:ext cx="3593592" cy="13716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873752"/>
            <a:ext cx="3154680" cy="9086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8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「</a:t>
            </a:r>
            <a:endParaRPr sz="18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同一时刻只能卖一件、买家不能挑、卖家也不能挑</a:t>
            </a:r>
            <a:endParaRPr sz="16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组 22"/>
          <p:cNvGrpSpPr/>
          <p:nvPr>
            <p:custDataLst>
              <p:tags r:id="rId1"/>
            </p:custDataLst>
          </p:nvPr>
        </p:nvGrpSpPr>
        <p:grpSpPr>
          <a:xfrm>
            <a:off x="8583930" y="4805680"/>
            <a:ext cx="429895" cy="384175"/>
            <a:chOff x="6552217" y="3120189"/>
            <a:chExt cx="1099185" cy="1173480"/>
          </a:xfrm>
        </p:grpSpPr>
        <p:sp>
          <p:nvSpPr>
            <p:cNvPr id="33" name="椭圆 32"/>
            <p:cNvSpPr/>
            <p:nvPr>
              <p:custDataLst>
                <p:tags r:id="rId2"/>
              </p:custDataLst>
            </p:nvPr>
          </p:nvSpPr>
          <p:spPr>
            <a:xfrm>
              <a:off x="6552217" y="3120189"/>
              <a:ext cx="1099185" cy="117348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ntinghei SC Demibold" charset="-122"/>
              </a:endParaRPr>
            </a:p>
          </p:txBody>
        </p:sp>
        <p:sp>
          <p:nvSpPr>
            <p:cNvPr id="35" name="Freeform 16"/>
            <p:cNvSpPr>
              <a:spLocks noEditPoints="1"/>
            </p:cNvSpPr>
            <p:nvPr>
              <p:custDataLst>
                <p:tags r:id="rId3"/>
              </p:custDataLst>
            </p:nvPr>
          </p:nvSpPr>
          <p:spPr bwMode="auto">
            <a:xfrm>
              <a:off x="6815742" y="3300411"/>
              <a:ext cx="571500" cy="673100"/>
            </a:xfrm>
            <a:custGeom>
              <a:avLst/>
              <a:gdLst>
                <a:gd name="T0" fmla="*/ 2147483647 w 171"/>
                <a:gd name="T1" fmla="*/ 2147483647 h 201"/>
                <a:gd name="T2" fmla="*/ 2147483647 w 171"/>
                <a:gd name="T3" fmla="*/ 2147483647 h 201"/>
                <a:gd name="T4" fmla="*/ 2147483647 w 171"/>
                <a:gd name="T5" fmla="*/ 2147483647 h 201"/>
                <a:gd name="T6" fmla="*/ 2147483647 w 171"/>
                <a:gd name="T7" fmla="*/ 2147483647 h 201"/>
                <a:gd name="T8" fmla="*/ 2147483647 w 171"/>
                <a:gd name="T9" fmla="*/ 2147483647 h 201"/>
                <a:gd name="T10" fmla="*/ 2147483647 w 171"/>
                <a:gd name="T11" fmla="*/ 2147483647 h 201"/>
                <a:gd name="T12" fmla="*/ 2147483647 w 171"/>
                <a:gd name="T13" fmla="*/ 2147483647 h 201"/>
                <a:gd name="T14" fmla="*/ 2147483647 w 171"/>
                <a:gd name="T15" fmla="*/ 2147483647 h 201"/>
                <a:gd name="T16" fmla="*/ 2147483647 w 171"/>
                <a:gd name="T17" fmla="*/ 2147483647 h 201"/>
                <a:gd name="T18" fmla="*/ 2147483647 w 171"/>
                <a:gd name="T19" fmla="*/ 2147483647 h 201"/>
                <a:gd name="T20" fmla="*/ 2147483647 w 171"/>
                <a:gd name="T21" fmla="*/ 2147483647 h 201"/>
                <a:gd name="T22" fmla="*/ 2147483647 w 171"/>
                <a:gd name="T23" fmla="*/ 2147483647 h 201"/>
                <a:gd name="T24" fmla="*/ 2147483647 w 171"/>
                <a:gd name="T25" fmla="*/ 2147483647 h 201"/>
                <a:gd name="T26" fmla="*/ 2147483647 w 171"/>
                <a:gd name="T27" fmla="*/ 2147483647 h 201"/>
                <a:gd name="T28" fmla="*/ 2147483647 w 171"/>
                <a:gd name="T29" fmla="*/ 2147483647 h 201"/>
                <a:gd name="T30" fmla="*/ 0 w 171"/>
                <a:gd name="T31" fmla="*/ 2147483647 h 201"/>
                <a:gd name="T32" fmla="*/ 0 w 171"/>
                <a:gd name="T33" fmla="*/ 2147483647 h 201"/>
                <a:gd name="T34" fmla="*/ 2147483647 w 171"/>
                <a:gd name="T35" fmla="*/ 2147483647 h 201"/>
                <a:gd name="T36" fmla="*/ 2147483647 w 171"/>
                <a:gd name="T37" fmla="*/ 2147483647 h 201"/>
                <a:gd name="T38" fmla="*/ 2147483647 w 171"/>
                <a:gd name="T39" fmla="*/ 2147483647 h 201"/>
                <a:gd name="T40" fmla="*/ 2147483647 w 171"/>
                <a:gd name="T41" fmla="*/ 2147483647 h 201"/>
                <a:gd name="T42" fmla="*/ 2147483647 w 171"/>
                <a:gd name="T43" fmla="*/ 2147483647 h 201"/>
                <a:gd name="T44" fmla="*/ 2147483647 w 171"/>
                <a:gd name="T45" fmla="*/ 2147483647 h 201"/>
                <a:gd name="T46" fmla="*/ 2147483647 w 171"/>
                <a:gd name="T47" fmla="*/ 2147483647 h 201"/>
                <a:gd name="T48" fmla="*/ 2147483647 w 171"/>
                <a:gd name="T49" fmla="*/ 2147483647 h 201"/>
                <a:gd name="T50" fmla="*/ 2147483647 w 171"/>
                <a:gd name="T51" fmla="*/ 2147483647 h 201"/>
                <a:gd name="T52" fmla="*/ 2147483647 w 171"/>
                <a:gd name="T53" fmla="*/ 2147483647 h 201"/>
                <a:gd name="T54" fmla="*/ 2147483647 w 171"/>
                <a:gd name="T55" fmla="*/ 2147483647 h 201"/>
                <a:gd name="T56" fmla="*/ 2147483647 w 171"/>
                <a:gd name="T57" fmla="*/ 2147483647 h 201"/>
                <a:gd name="T58" fmla="*/ 2147483647 w 171"/>
                <a:gd name="T59" fmla="*/ 2147483647 h 201"/>
                <a:gd name="T60" fmla="*/ 2147483647 w 171"/>
                <a:gd name="T61" fmla="*/ 2147483647 h 201"/>
                <a:gd name="T62" fmla="*/ 2147483647 w 171"/>
                <a:gd name="T63" fmla="*/ 2147483647 h 201"/>
                <a:gd name="T64" fmla="*/ 2147483647 w 171"/>
                <a:gd name="T65" fmla="*/ 2147483647 h 201"/>
                <a:gd name="T66" fmla="*/ 2147483647 w 171"/>
                <a:gd name="T67" fmla="*/ 2147483647 h 201"/>
                <a:gd name="T68" fmla="*/ 2147483647 w 171"/>
                <a:gd name="T69" fmla="*/ 2147483647 h 201"/>
                <a:gd name="T70" fmla="*/ 2147483647 w 171"/>
                <a:gd name="T71" fmla="*/ 2147483647 h 201"/>
                <a:gd name="T72" fmla="*/ 2147483647 w 171"/>
                <a:gd name="T73" fmla="*/ 2147483647 h 201"/>
                <a:gd name="T74" fmla="*/ 2147483647 w 171"/>
                <a:gd name="T75" fmla="*/ 2147483647 h 201"/>
                <a:gd name="T76" fmla="*/ 2147483647 w 171"/>
                <a:gd name="T77" fmla="*/ 2147483647 h 201"/>
                <a:gd name="T78" fmla="*/ 2147483647 w 171"/>
                <a:gd name="T79" fmla="*/ 2147483647 h 20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71" h="201">
                  <a:moveTo>
                    <a:pt x="61" y="46"/>
                  </a:moveTo>
                  <a:cubicBezTo>
                    <a:pt x="64" y="46"/>
                    <a:pt x="82" y="39"/>
                    <a:pt x="104" y="47"/>
                  </a:cubicBezTo>
                  <a:cubicBezTo>
                    <a:pt x="101" y="32"/>
                    <a:pt x="109" y="24"/>
                    <a:pt x="109" y="19"/>
                  </a:cubicBezTo>
                  <a:cubicBezTo>
                    <a:pt x="108" y="7"/>
                    <a:pt x="104" y="15"/>
                    <a:pt x="97" y="9"/>
                  </a:cubicBezTo>
                  <a:cubicBezTo>
                    <a:pt x="97" y="11"/>
                    <a:pt x="100" y="21"/>
                    <a:pt x="92" y="30"/>
                  </a:cubicBezTo>
                  <a:cubicBezTo>
                    <a:pt x="97" y="17"/>
                    <a:pt x="92" y="0"/>
                    <a:pt x="92" y="2"/>
                  </a:cubicBezTo>
                  <a:cubicBezTo>
                    <a:pt x="86" y="9"/>
                    <a:pt x="79" y="1"/>
                    <a:pt x="76" y="10"/>
                  </a:cubicBezTo>
                  <a:cubicBezTo>
                    <a:pt x="75" y="13"/>
                    <a:pt x="82" y="22"/>
                    <a:pt x="76" y="35"/>
                  </a:cubicBezTo>
                  <a:cubicBezTo>
                    <a:pt x="75" y="19"/>
                    <a:pt x="72" y="14"/>
                    <a:pt x="72" y="16"/>
                  </a:cubicBezTo>
                  <a:cubicBezTo>
                    <a:pt x="68" y="26"/>
                    <a:pt x="59" y="12"/>
                    <a:pt x="59" y="28"/>
                  </a:cubicBezTo>
                  <a:cubicBezTo>
                    <a:pt x="59" y="30"/>
                    <a:pt x="66" y="35"/>
                    <a:pt x="61" y="46"/>
                  </a:cubicBezTo>
                  <a:close/>
                  <a:moveTo>
                    <a:pt x="91" y="133"/>
                  </a:moveTo>
                  <a:cubicBezTo>
                    <a:pt x="91" y="153"/>
                    <a:pt x="91" y="153"/>
                    <a:pt x="91" y="153"/>
                  </a:cubicBezTo>
                  <a:cubicBezTo>
                    <a:pt x="95" y="152"/>
                    <a:pt x="95" y="151"/>
                    <a:pt x="96" y="149"/>
                  </a:cubicBezTo>
                  <a:cubicBezTo>
                    <a:pt x="98" y="147"/>
                    <a:pt x="99" y="145"/>
                    <a:pt x="99" y="143"/>
                  </a:cubicBezTo>
                  <a:cubicBezTo>
                    <a:pt x="99" y="141"/>
                    <a:pt x="98" y="139"/>
                    <a:pt x="97" y="137"/>
                  </a:cubicBezTo>
                  <a:cubicBezTo>
                    <a:pt x="95" y="136"/>
                    <a:pt x="95" y="134"/>
                    <a:pt x="91" y="133"/>
                  </a:cubicBezTo>
                  <a:close/>
                  <a:moveTo>
                    <a:pt x="74" y="95"/>
                  </a:moveTo>
                  <a:cubicBezTo>
                    <a:pt x="73" y="96"/>
                    <a:pt x="72" y="97"/>
                    <a:pt x="72" y="99"/>
                  </a:cubicBezTo>
                  <a:cubicBezTo>
                    <a:pt x="72" y="101"/>
                    <a:pt x="73" y="103"/>
                    <a:pt x="74" y="104"/>
                  </a:cubicBezTo>
                  <a:cubicBezTo>
                    <a:pt x="75" y="105"/>
                    <a:pt x="76" y="106"/>
                    <a:pt x="79" y="107"/>
                  </a:cubicBezTo>
                  <a:cubicBezTo>
                    <a:pt x="79" y="91"/>
                    <a:pt x="79" y="91"/>
                    <a:pt x="79" y="91"/>
                  </a:cubicBezTo>
                  <a:cubicBezTo>
                    <a:pt x="76" y="92"/>
                    <a:pt x="75" y="93"/>
                    <a:pt x="74" y="95"/>
                  </a:cubicBezTo>
                  <a:close/>
                  <a:moveTo>
                    <a:pt x="171" y="179"/>
                  </a:moveTo>
                  <a:cubicBezTo>
                    <a:pt x="163" y="72"/>
                    <a:pt x="125" y="59"/>
                    <a:pt x="115" y="54"/>
                  </a:cubicBezTo>
                  <a:cubicBezTo>
                    <a:pt x="108" y="51"/>
                    <a:pt x="96" y="49"/>
                    <a:pt x="84" y="49"/>
                  </a:cubicBezTo>
                  <a:cubicBezTo>
                    <a:pt x="83" y="49"/>
                    <a:pt x="83" y="49"/>
                    <a:pt x="82" y="49"/>
                  </a:cubicBezTo>
                  <a:cubicBezTo>
                    <a:pt x="81" y="49"/>
                    <a:pt x="80" y="49"/>
                    <a:pt x="80" y="49"/>
                  </a:cubicBezTo>
                  <a:cubicBezTo>
                    <a:pt x="78" y="49"/>
                    <a:pt x="77" y="49"/>
                    <a:pt x="75" y="49"/>
                  </a:cubicBezTo>
                  <a:cubicBezTo>
                    <a:pt x="72" y="49"/>
                    <a:pt x="69" y="50"/>
                    <a:pt x="66" y="50"/>
                  </a:cubicBezTo>
                  <a:cubicBezTo>
                    <a:pt x="61" y="51"/>
                    <a:pt x="55" y="52"/>
                    <a:pt x="51" y="54"/>
                  </a:cubicBezTo>
                  <a:cubicBezTo>
                    <a:pt x="25" y="64"/>
                    <a:pt x="11" y="68"/>
                    <a:pt x="0" y="179"/>
                  </a:cubicBezTo>
                  <a:cubicBezTo>
                    <a:pt x="0" y="179"/>
                    <a:pt x="0" y="180"/>
                    <a:pt x="0" y="180"/>
                  </a:cubicBezTo>
                  <a:cubicBezTo>
                    <a:pt x="0" y="180"/>
                    <a:pt x="0" y="180"/>
                    <a:pt x="0" y="181"/>
                  </a:cubicBezTo>
                  <a:cubicBezTo>
                    <a:pt x="0" y="181"/>
                    <a:pt x="0" y="182"/>
                    <a:pt x="0" y="182"/>
                  </a:cubicBezTo>
                  <a:cubicBezTo>
                    <a:pt x="1" y="183"/>
                    <a:pt x="1" y="184"/>
                    <a:pt x="1" y="185"/>
                  </a:cubicBezTo>
                  <a:cubicBezTo>
                    <a:pt x="2" y="187"/>
                    <a:pt x="4" y="189"/>
                    <a:pt x="6" y="190"/>
                  </a:cubicBezTo>
                  <a:cubicBezTo>
                    <a:pt x="26" y="197"/>
                    <a:pt x="63" y="200"/>
                    <a:pt x="84" y="201"/>
                  </a:cubicBezTo>
                  <a:cubicBezTo>
                    <a:pt x="85" y="201"/>
                    <a:pt x="86" y="201"/>
                    <a:pt x="87" y="201"/>
                  </a:cubicBezTo>
                  <a:cubicBezTo>
                    <a:pt x="89" y="201"/>
                    <a:pt x="89" y="201"/>
                    <a:pt x="91" y="201"/>
                  </a:cubicBezTo>
                  <a:cubicBezTo>
                    <a:pt x="93" y="201"/>
                    <a:pt x="96" y="201"/>
                    <a:pt x="99" y="200"/>
                  </a:cubicBezTo>
                  <a:cubicBezTo>
                    <a:pt x="104" y="200"/>
                    <a:pt x="129" y="200"/>
                    <a:pt x="134" y="199"/>
                  </a:cubicBezTo>
                  <a:cubicBezTo>
                    <a:pt x="145" y="197"/>
                    <a:pt x="155" y="194"/>
                    <a:pt x="165" y="190"/>
                  </a:cubicBezTo>
                  <a:cubicBezTo>
                    <a:pt x="167" y="189"/>
                    <a:pt x="169" y="188"/>
                    <a:pt x="169" y="186"/>
                  </a:cubicBezTo>
                  <a:cubicBezTo>
                    <a:pt x="170" y="185"/>
                    <a:pt x="170" y="183"/>
                    <a:pt x="171" y="182"/>
                  </a:cubicBezTo>
                  <a:cubicBezTo>
                    <a:pt x="171" y="182"/>
                    <a:pt x="171" y="181"/>
                    <a:pt x="171" y="181"/>
                  </a:cubicBezTo>
                  <a:cubicBezTo>
                    <a:pt x="171" y="180"/>
                    <a:pt x="171" y="180"/>
                    <a:pt x="171" y="180"/>
                  </a:cubicBezTo>
                  <a:cubicBezTo>
                    <a:pt x="171" y="180"/>
                    <a:pt x="171" y="179"/>
                    <a:pt x="171" y="179"/>
                  </a:cubicBezTo>
                  <a:close/>
                  <a:moveTo>
                    <a:pt x="119" y="152"/>
                  </a:moveTo>
                  <a:cubicBezTo>
                    <a:pt x="117" y="156"/>
                    <a:pt x="115" y="159"/>
                    <a:pt x="112" y="161"/>
                  </a:cubicBezTo>
                  <a:cubicBezTo>
                    <a:pt x="108" y="164"/>
                    <a:pt x="105" y="166"/>
                    <a:pt x="102" y="167"/>
                  </a:cubicBezTo>
                  <a:cubicBezTo>
                    <a:pt x="98" y="168"/>
                    <a:pt x="96" y="169"/>
                    <a:pt x="91" y="169"/>
                  </a:cubicBezTo>
                  <a:cubicBezTo>
                    <a:pt x="91" y="183"/>
                    <a:pt x="91" y="183"/>
                    <a:pt x="91" y="183"/>
                  </a:cubicBezTo>
                  <a:cubicBezTo>
                    <a:pt x="79" y="183"/>
                    <a:pt x="79" y="183"/>
                    <a:pt x="79" y="183"/>
                  </a:cubicBezTo>
                  <a:cubicBezTo>
                    <a:pt x="79" y="169"/>
                    <a:pt x="79" y="169"/>
                    <a:pt x="79" y="169"/>
                  </a:cubicBezTo>
                  <a:cubicBezTo>
                    <a:pt x="73" y="168"/>
                    <a:pt x="68" y="167"/>
                    <a:pt x="65" y="166"/>
                  </a:cubicBezTo>
                  <a:cubicBezTo>
                    <a:pt x="61" y="165"/>
                    <a:pt x="59" y="163"/>
                    <a:pt x="56" y="160"/>
                  </a:cubicBezTo>
                  <a:cubicBezTo>
                    <a:pt x="53" y="158"/>
                    <a:pt x="50" y="155"/>
                    <a:pt x="48" y="152"/>
                  </a:cubicBezTo>
                  <a:cubicBezTo>
                    <a:pt x="47" y="149"/>
                    <a:pt x="46" y="150"/>
                    <a:pt x="45" y="146"/>
                  </a:cubicBezTo>
                  <a:cubicBezTo>
                    <a:pt x="70" y="138"/>
                    <a:pt x="70" y="138"/>
                    <a:pt x="70" y="138"/>
                  </a:cubicBezTo>
                  <a:cubicBezTo>
                    <a:pt x="71" y="142"/>
                    <a:pt x="72" y="145"/>
                    <a:pt x="73" y="147"/>
                  </a:cubicBezTo>
                  <a:cubicBezTo>
                    <a:pt x="75" y="149"/>
                    <a:pt x="76" y="151"/>
                    <a:pt x="79" y="152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1" y="128"/>
                    <a:pt x="65" y="126"/>
                    <a:pt x="62" y="124"/>
                  </a:cubicBezTo>
                  <a:cubicBezTo>
                    <a:pt x="58" y="122"/>
                    <a:pt x="55" y="120"/>
                    <a:pt x="53" y="116"/>
                  </a:cubicBezTo>
                  <a:cubicBezTo>
                    <a:pt x="50" y="112"/>
                    <a:pt x="49" y="107"/>
                    <a:pt x="49" y="102"/>
                  </a:cubicBezTo>
                  <a:cubicBezTo>
                    <a:pt x="49" y="95"/>
                    <a:pt x="51" y="88"/>
                    <a:pt x="56" y="83"/>
                  </a:cubicBezTo>
                  <a:cubicBezTo>
                    <a:pt x="62" y="78"/>
                    <a:pt x="69" y="76"/>
                    <a:pt x="79" y="75"/>
                  </a:cubicBezTo>
                  <a:cubicBezTo>
                    <a:pt x="79" y="63"/>
                    <a:pt x="79" y="63"/>
                    <a:pt x="79" y="63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91" y="75"/>
                    <a:pt x="91" y="75"/>
                    <a:pt x="91" y="75"/>
                  </a:cubicBezTo>
                  <a:cubicBezTo>
                    <a:pt x="101" y="76"/>
                    <a:pt x="105" y="78"/>
                    <a:pt x="110" y="82"/>
                  </a:cubicBezTo>
                  <a:cubicBezTo>
                    <a:pt x="115" y="86"/>
                    <a:pt x="118" y="91"/>
                    <a:pt x="120" y="97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98"/>
                    <a:pt x="94" y="96"/>
                    <a:pt x="93" y="95"/>
                  </a:cubicBezTo>
                  <a:cubicBezTo>
                    <a:pt x="92" y="94"/>
                    <a:pt x="93" y="93"/>
                    <a:pt x="91" y="92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104" y="113"/>
                    <a:pt x="110" y="117"/>
                    <a:pt x="114" y="120"/>
                  </a:cubicBezTo>
                  <a:cubicBezTo>
                    <a:pt x="120" y="125"/>
                    <a:pt x="122" y="132"/>
                    <a:pt x="122" y="139"/>
                  </a:cubicBezTo>
                  <a:cubicBezTo>
                    <a:pt x="122" y="144"/>
                    <a:pt x="121" y="148"/>
                    <a:pt x="119" y="1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b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Lantinghei SC Demibold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总体计划与本次迭代定位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系统概览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88720" y="1508760"/>
            <a:ext cx="10058400" cy="1828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10-08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887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68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10-15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0269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50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10-22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8651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10-29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7033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14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11-05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415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96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11-12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3797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978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11-19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179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60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11-26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056119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42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12-03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8943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12-10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7325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06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12-17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5707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88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12-24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4089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27080" y="123444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9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12-31</a:t>
            </a:r>
            <a:endParaRPr sz="9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247120" y="1481328"/>
            <a:ext cx="10972" cy="10972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198424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迭代 1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188720" y="1965960"/>
            <a:ext cx="1851025" cy="31115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需求设计</a:t>
            </a:r>
            <a:r>
              <a:rPr lang="en-US"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前后端基础模块</a:t>
            </a: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（10-08~10-22）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02280" y="1947672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◀ 当前迭代</a:t>
            </a:r>
            <a:endParaRPr sz="10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02920" y="245973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2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985135" y="2441575"/>
            <a:ext cx="1711960" cy="292735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前后端</a:t>
            </a:r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进阶模块编码开发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（10-23~11-05）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2935224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3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661262" y="2916936"/>
            <a:ext cx="1556657" cy="29260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核心业务功能开发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（11-06~11-19）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3410712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4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337662" y="3392424"/>
            <a:ext cx="1556657" cy="29260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集成测试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（11-20~12-03）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02920" y="3886200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5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7861935" y="3867785"/>
            <a:ext cx="1389380" cy="29337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系统整体联调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（12-04~12-13）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02920" y="4361688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6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9013825" y="4343400"/>
            <a:ext cx="1555750" cy="292735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系统整体回归测试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（12-14~12-24）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02920" y="4837175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迭代 7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10377805" y="4819015"/>
            <a:ext cx="1395730" cy="29337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验收</a:t>
            </a:r>
            <a:r>
              <a:rPr lang="en-US" altLang="zh-CN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r>
              <a:rPr sz="1200" b="0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（12-25~12-31）</a:t>
            </a:r>
            <a:endParaRPr sz="1200" b="0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02920" y="5532120"/>
            <a:ext cx="11183112" cy="685800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7240" y="5702745"/>
            <a:ext cx="10698480" cy="3536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当前进度 </a:t>
            </a:r>
            <a:r>
              <a:rPr lang="en-US" sz="2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sz="2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　——　设计阶段已完成</a:t>
            </a:r>
            <a:r>
              <a:rPr lang="zh-CN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及部分代码已完成</a:t>
            </a:r>
            <a:endParaRPr lang="zh-CN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-661714" y="1246957"/>
            <a:ext cx="9059917" cy="1351280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>
            <a:defPPr>
              <a:defRPr lang="zh-CN"/>
            </a:defPPr>
            <a:lvl1pPr algn="ctr">
              <a:defRPr sz="8800">
                <a:gradFill>
                  <a:gsLst>
                    <a:gs pos="0">
                      <a:srgbClr val="00B0F0"/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2400000" scaled="0"/>
                </a:gradFill>
                <a:effectLst>
                  <a:outerShdw blurRad="317500" dist="165100" dir="2700000" algn="tl" rotWithShape="0">
                    <a:prstClr val="black">
                      <a:alpha val="60000"/>
                    </a:prst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en-US" altLang="zh-CN" sz="8000" b="1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TWO</a:t>
            </a:r>
            <a:endParaRPr lang="zh-CN" altLang="en-US" sz="8000" b="1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1598930" y="283464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需求设计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0" y="1689100"/>
            <a:ext cx="575754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2272665"/>
            <a:ext cx="6503035" cy="35185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组员需求</a:t>
            </a: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澄清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</a:t>
            </a:r>
            <a:r>
              <a:rPr lang="zh-CN"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1117600"/>
            <a:ext cx="11235055" cy="128143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文本框 33"/>
          <p:cNvSpPr txBox="1"/>
          <p:nvPr/>
        </p:nvSpPr>
        <p:spPr>
          <a:xfrm>
            <a:off x="894715" y="1203325"/>
            <a:ext cx="919670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问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：交易失败是只有买家可以确认？还是双端都可以确认？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答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：交易结果不是买家确认的，是卖家在后台标记的。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</p:txBody>
      </p:sp>
      <p:sp>
        <p:nvSpPr>
          <p:cNvPr id="36" name="Rounded Rectangle 29"/>
          <p:cNvSpPr/>
          <p:nvPr/>
        </p:nvSpPr>
        <p:spPr>
          <a:xfrm>
            <a:off x="502920" y="2574925"/>
            <a:ext cx="11235055" cy="1400175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29"/>
          <p:cNvSpPr/>
          <p:nvPr/>
        </p:nvSpPr>
        <p:spPr>
          <a:xfrm>
            <a:off x="502920" y="4102100"/>
            <a:ext cx="11235055" cy="2311400"/>
          </a:xfrm>
          <a:prstGeom prst="roundRect">
            <a:avLst>
              <a:gd name="adj" fmla="val 8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文本框 37"/>
          <p:cNvSpPr txBox="1"/>
          <p:nvPr/>
        </p:nvSpPr>
        <p:spPr>
          <a:xfrm>
            <a:off x="894715" y="4111625"/>
            <a:ext cx="10795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问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：卖家可以自己选择跟哪个买家交易吗，买家可以自己输入价格，然后卖家同意，还是卖家输入一个价格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答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：谁先提交意向谁先交易，按提交时间排队，最早的那个先进交易，我不挑人。价格是我发布商品的时候就定好的，买家那边不输入价格、也不讨价还价。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16610" y="2531745"/>
            <a:ext cx="10845165" cy="1371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问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：商品冻结后，到底还收不收新意向？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  <a:p>
            <a:r>
              <a:rPr lang="zh-CN" altLang="en-US" sz="2800" b="1">
                <a:latin typeface="方正仿宋_GB2312" panose="02000000000000000000" charset="-122"/>
                <a:ea typeface="方正仿宋_GB2312" panose="02000000000000000000" charset="-122"/>
              </a:rPr>
              <a:t>答</a:t>
            </a:r>
            <a:r>
              <a:rPr lang="zh-CN" altLang="en-US" sz="2800">
                <a:latin typeface="方正仿宋_GB2312" panose="02000000000000000000" charset="-122"/>
                <a:ea typeface="方正仿宋_GB2312" panose="02000000000000000000" charset="-122"/>
              </a:rPr>
              <a:t>：你说的「冻结后仍可提交进入排队」这个说法不对，冻结后不收新意向</a:t>
            </a:r>
            <a:endParaRPr lang="zh-CN" altLang="en-US" sz="2800">
              <a:latin typeface="方正仿宋_GB2312" panose="02000000000000000000" charset="-122"/>
              <a:ea typeface="方正仿宋_GB2312" panose="02000000000000000000" charset="-122"/>
            </a:endParaRPr>
          </a:p>
        </p:txBody>
      </p:sp>
      <p:sp>
        <p:nvSpPr>
          <p:cNvPr id="40" name="Rectangle 13"/>
          <p:cNvSpPr/>
          <p:nvPr/>
        </p:nvSpPr>
        <p:spPr>
          <a:xfrm flipH="1">
            <a:off x="502920" y="1120775"/>
            <a:ext cx="76200" cy="12782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3"/>
          <p:cNvSpPr/>
          <p:nvPr/>
        </p:nvSpPr>
        <p:spPr>
          <a:xfrm flipH="1">
            <a:off x="502285" y="2589530"/>
            <a:ext cx="76835" cy="135826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13"/>
          <p:cNvSpPr/>
          <p:nvPr/>
        </p:nvSpPr>
        <p:spPr>
          <a:xfrm flipH="1">
            <a:off x="521335" y="4150995"/>
            <a:ext cx="101600" cy="223710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角色设计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24128"/>
            <a:ext cx="11155680" cy="220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角色只有两类，但权限</a:t>
            </a:r>
            <a:r>
              <a:rPr lang="zh-CN" sz="12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依旧</a:t>
            </a:r>
            <a:r>
              <a:rPr lang="zh-CN" sz="12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重要</a:t>
            </a:r>
            <a:endParaRPr lang="zh-CN" sz="12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1/5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153543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全系统仅两种角色：卖家 / 买家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6160" y="1540002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「游客」不是第三类角色，只是买家提交意向前的浏览状态。</a:t>
            </a:r>
            <a:endParaRPr sz="12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75615" y="2056130"/>
            <a:ext cx="5486400" cy="3965575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215" y="2165858"/>
            <a:ext cx="502920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▎卖家 Seller</a:t>
            </a:r>
            <a:r>
              <a:rPr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215" y="2708275"/>
            <a:ext cx="5120640" cy="3172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❌ 不可编辑已发布商品（要调整只能下架重发）</a:t>
            </a:r>
            <a:endParaRPr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❌ 不可挑选买家、不可调整队列顺序</a:t>
            </a:r>
            <a:endParaRPr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❌ </a:t>
            </a:r>
            <a:r>
              <a:rPr lang="zh-CN" altLang="en-US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无账号、无需改密码、无需退出登录</a:t>
            </a:r>
            <a:endParaRPr lang="zh-CN" altLang="en-US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❌ </a:t>
            </a:r>
            <a:r>
              <a:rPr lang="zh-CN" altLang="en-US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无法提交购买意向、无法获取口令码</a:t>
            </a:r>
            <a:endParaRPr lang="zh-CN" altLang="en-US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✅ 可发布 / 下架商品、冻结 / 解冻</a:t>
            </a:r>
            <a:endParaRPr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✅ </a:t>
            </a:r>
            <a:r>
              <a:rPr lang="zh-CN" altLang="en-US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查看全部历史商品、查看排队队列</a:t>
            </a:r>
            <a:endParaRPr lang="zh-CN" altLang="en-US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✅ </a:t>
            </a:r>
            <a:r>
              <a:rPr lang="zh-CN" altLang="en-US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查看意向买家及对应交易结果</a:t>
            </a:r>
            <a:endParaRPr lang="zh-CN" altLang="en-US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✅ 可标记交易成败、选择失败者处理方式</a:t>
            </a:r>
            <a:endParaRPr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72200" y="2056130"/>
            <a:ext cx="5486400" cy="3942080"/>
          </a:xfrm>
          <a:prstGeom prst="roundRect">
            <a:avLst>
              <a:gd name="adj" fmla="val 4500"/>
            </a:avLst>
          </a:prstGeom>
          <a:solidFill>
            <a:srgbClr val="EEF4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927" y="2165858"/>
            <a:ext cx="5029200" cy="424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▎买家 Buyer</a:t>
            </a:r>
            <a:r>
              <a:rPr sz="11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endParaRPr sz="11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927" y="2695575"/>
            <a:ext cx="5120640" cy="27647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❌ 不建账号，姓名电话交易后脱敏</a:t>
            </a:r>
            <a:endParaRPr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❌ 口令码丢失无法找回</a:t>
            </a:r>
            <a:endParaRPr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❌ </a:t>
            </a:r>
            <a:r>
              <a:rPr lang="zh-CN" altLang="en-US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不可查看完整队列、不可查看他人交易记录</a:t>
            </a:r>
            <a:endParaRPr lang="zh-CN" altLang="en-US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❌ </a:t>
            </a:r>
            <a:r>
              <a:rPr lang="zh-CN" altLang="en-US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交易中不可改信息、不可撤销意向</a:t>
            </a:r>
            <a:endParaRPr lang="zh-CN" altLang="en-US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✅ 可浏览在售商品、提交意向</a:t>
            </a:r>
            <a:endParaRPr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b="0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✅ 可凭口令码查位次、改信息、撤销意向</a:t>
            </a:r>
            <a:endParaRPr b="0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✅ </a:t>
            </a:r>
            <a:r>
              <a:rPr lang="zh-CN" altLang="en-US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查看个人对应交易结果</a:t>
            </a:r>
            <a:endParaRPr lang="zh-CN" altLang="en-US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五角星 24"/>
          <p:cNvSpPr/>
          <p:nvPr/>
        </p:nvSpPr>
        <p:spPr>
          <a:xfrm>
            <a:off x="8984615" y="3093720"/>
            <a:ext cx="287655" cy="335280"/>
          </a:xfrm>
          <a:prstGeom prst="star5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-8890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两台状态机：全系统的规则中枢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2/5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1116838"/>
            <a:ext cx="1115568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● 商品三态：在售 ⇄ 已冻结 → 已下架（终态）</a:t>
            </a:r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　　　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1681480"/>
            <a:ext cx="5029200" cy="35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▎商品状态机（3 态）</a:t>
            </a:r>
            <a:endParaRPr sz="2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072640" y="2699131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在售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753475" y="2532126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FDF2D9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已冻结</a:t>
            </a:r>
            <a:endParaRPr sz="24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0" y="5133721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已下架</a:t>
            </a:r>
            <a:endParaRPr sz="24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>
            <a:endCxn id="16" idx="1"/>
          </p:cNvCxnSpPr>
          <p:nvPr/>
        </p:nvCxnSpPr>
        <p:spPr>
          <a:xfrm>
            <a:off x="3444113" y="2806700"/>
            <a:ext cx="5309235" cy="889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2440940"/>
            <a:ext cx="3074035" cy="374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0404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手动冻结 / 进入交易(自动)</a:t>
            </a:r>
            <a:endParaRPr sz="2000" b="0" i="0">
              <a:solidFill>
                <a:srgbClr val="40404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H="1">
            <a:off x="3444240" y="3099308"/>
            <a:ext cx="5309235" cy="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0" y="3218053"/>
            <a:ext cx="2194560" cy="707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 i="0">
                <a:solidFill>
                  <a:srgbClr val="40404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手动解冻 / 交易失败且队列为空</a:t>
            </a:r>
            <a:endParaRPr sz="2000" b="0" i="0">
              <a:solidFill>
                <a:srgbClr val="40404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 flipH="1">
            <a:off x="6446520" y="3099435"/>
            <a:ext cx="2612390" cy="205740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46705" y="3266440"/>
            <a:ext cx="2311400" cy="182626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651125" y="3976370"/>
            <a:ext cx="1245235" cy="7023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2000" b="0" i="0">
                <a:solidFill>
                  <a:srgbClr val="404040"/>
                </a:solidFill>
                <a:latin typeface="黑体" panose="02010609060101010101" charset="-122"/>
                <a:ea typeface="黑体" panose="02010609060101010101" charset="-122"/>
              </a:rPr>
              <a:t>卖家</a:t>
            </a:r>
            <a:r>
              <a:rPr sz="2000" b="0" i="0">
                <a:solidFill>
                  <a:srgbClr val="404040"/>
                </a:solidFill>
                <a:latin typeface="黑体" panose="02010609060101010101" charset="-122"/>
                <a:ea typeface="黑体" panose="02010609060101010101" charset="-122"/>
              </a:rPr>
              <a:t>手动下架</a:t>
            </a:r>
            <a:endParaRPr sz="2000" b="0" i="0">
              <a:solidFill>
                <a:srgbClr val="40404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2" name="TextBox 24"/>
          <p:cNvSpPr txBox="1"/>
          <p:nvPr/>
        </p:nvSpPr>
        <p:spPr>
          <a:xfrm>
            <a:off x="7818120" y="4103370"/>
            <a:ext cx="1371600" cy="3536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sz="2000" b="0" i="0">
                <a:solidFill>
                  <a:srgbClr val="404040"/>
                </a:solidFill>
                <a:latin typeface="黑体" panose="02010609060101010101" charset="-122"/>
                <a:ea typeface="黑体" panose="02010609060101010101" charset="-122"/>
              </a:rPr>
              <a:t>交易成功</a:t>
            </a:r>
            <a:endParaRPr lang="zh-CN" sz="2000" b="0" i="0">
              <a:solidFill>
                <a:srgbClr val="40404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两台状态机：全系统的规则中枢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2/5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1335" y="1153033"/>
            <a:ext cx="1115568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● 意向七态：排队中 → 已进入交易 → 交易成功/失败 → 已作废/重新排队中</a:t>
            </a:r>
            <a:endParaRPr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1335" y="18465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▎意向状态机（7 态）</a:t>
            </a:r>
            <a:endParaRPr sz="13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113915" y="2470785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排队中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577840" y="2447925"/>
            <a:ext cx="1645920" cy="548640"/>
          </a:xfrm>
          <a:prstGeom prst="roundRect">
            <a:avLst>
              <a:gd name="adj" fmla="val 50000"/>
            </a:avLst>
          </a:prstGeom>
          <a:solidFill>
            <a:srgbClr val="FDF2D9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已进入交易</a:t>
            </a:r>
            <a:endParaRPr sz="12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86600" y="3545205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E3F2E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交易成功</a:t>
            </a:r>
            <a:endParaRPr sz="1200" b="1" i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257165" y="3616960"/>
            <a:ext cx="1280160" cy="54864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交易失败</a:t>
            </a:r>
            <a:endParaRPr sz="12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385685" y="5106670"/>
            <a:ext cx="1188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已作废</a:t>
            </a:r>
            <a:endParaRPr sz="12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861435" y="5106670"/>
            <a:ext cx="1473200" cy="548640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重新排队中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485642" y="2722245"/>
            <a:ext cx="2046605" cy="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684904" y="2417445"/>
            <a:ext cx="137160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轮到队首(自动)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6446520" y="3014853"/>
            <a:ext cx="868680" cy="530352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720840" y="3014853"/>
            <a:ext cx="1280160" cy="565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卖家标记成功(终态)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7" name="Connector 36"/>
          <p:cNvCxnSpPr>
            <a:stCxn id="28" idx="2"/>
            <a:endCxn id="30" idx="0"/>
          </p:cNvCxnSpPr>
          <p:nvPr/>
        </p:nvCxnSpPr>
        <p:spPr>
          <a:xfrm flipH="1">
            <a:off x="5897245" y="2996565"/>
            <a:ext cx="503555" cy="620395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34635" y="3053080"/>
            <a:ext cx="869315" cy="568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卖家标记失败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14775" y="3759835"/>
            <a:ext cx="903605" cy="409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再次轮到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21155" y="3876675"/>
            <a:ext cx="100584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主动撤销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30"/>
          <p:cNvSpPr/>
          <p:nvPr/>
        </p:nvSpPr>
        <p:spPr>
          <a:xfrm>
            <a:off x="1850390" y="5197475"/>
            <a:ext cx="118872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已</a:t>
            </a:r>
            <a:r>
              <a:rPr lang="zh-CN" sz="12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撤销</a:t>
            </a:r>
            <a:endParaRPr lang="zh-CN" sz="12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7" name="Connector 36"/>
          <p:cNvCxnSpPr>
            <a:stCxn id="30" idx="2"/>
            <a:endCxn id="31" idx="0"/>
          </p:cNvCxnSpPr>
          <p:nvPr/>
        </p:nvCxnSpPr>
        <p:spPr>
          <a:xfrm>
            <a:off x="5897245" y="4165600"/>
            <a:ext cx="2082800" cy="94107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36"/>
          <p:cNvCxnSpPr>
            <a:stCxn id="30" idx="2"/>
          </p:cNvCxnSpPr>
          <p:nvPr/>
        </p:nvCxnSpPr>
        <p:spPr>
          <a:xfrm flipH="1">
            <a:off x="5056505" y="4165600"/>
            <a:ext cx="840740" cy="94107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36"/>
          <p:cNvCxnSpPr/>
          <p:nvPr/>
        </p:nvCxnSpPr>
        <p:spPr>
          <a:xfrm>
            <a:off x="5334635" y="5380990"/>
            <a:ext cx="2051050" cy="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36"/>
          <p:cNvCxnSpPr>
            <a:stCxn id="27" idx="2"/>
            <a:endCxn id="46" idx="0"/>
          </p:cNvCxnSpPr>
          <p:nvPr/>
        </p:nvCxnSpPr>
        <p:spPr>
          <a:xfrm flipH="1">
            <a:off x="2444750" y="3019425"/>
            <a:ext cx="354965" cy="2178050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36"/>
          <p:cNvCxnSpPr>
            <a:stCxn id="32" idx="1"/>
            <a:endCxn id="46" idx="3"/>
          </p:cNvCxnSpPr>
          <p:nvPr/>
        </p:nvCxnSpPr>
        <p:spPr>
          <a:xfrm flipH="1">
            <a:off x="3039110" y="5380990"/>
            <a:ext cx="822325" cy="90805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36"/>
          <p:cNvCxnSpPr/>
          <p:nvPr/>
        </p:nvCxnSpPr>
        <p:spPr>
          <a:xfrm flipV="1">
            <a:off x="4135755" y="2996565"/>
            <a:ext cx="1442085" cy="2110105"/>
          </a:xfrm>
          <a:prstGeom prst="line">
            <a:avLst/>
          </a:prstGeom>
          <a:ln w="2540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文本框 55"/>
          <p:cNvSpPr txBox="1"/>
          <p:nvPr/>
        </p:nvSpPr>
        <p:spPr>
          <a:xfrm>
            <a:off x="6913880" y="4146550"/>
            <a:ext cx="969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</a:rPr>
              <a:t>卖家选择作废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33"/>
          <p:cNvSpPr txBox="1"/>
          <p:nvPr/>
        </p:nvSpPr>
        <p:spPr>
          <a:xfrm>
            <a:off x="5499100" y="4603115"/>
            <a:ext cx="1038225" cy="5816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altLang="en-US"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卖家选择重新排队</a:t>
            </a:r>
            <a:endParaRPr lang="zh-CN" altLang="en-US"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33"/>
          <p:cNvSpPr txBox="1"/>
          <p:nvPr/>
        </p:nvSpPr>
        <p:spPr>
          <a:xfrm>
            <a:off x="5577839" y="5476240"/>
            <a:ext cx="137160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CN" altLang="en-US"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卖家作废</a:t>
            </a:r>
            <a:endParaRPr lang="zh-CN" altLang="en-US"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范围边界：14 个待确认项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</a:t>
            </a:r>
            <a:r>
              <a:rPr lang="en-US"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5/5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1116330"/>
            <a:ext cx="502920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▎本期范围（圈内）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234440" y="2377440"/>
            <a:ext cx="3291840" cy="3291840"/>
          </a:xfrm>
          <a:prstGeom prst="ellipse">
            <a:avLst/>
          </a:prstGeom>
          <a:solidFill>
            <a:srgbClr val="EEF4FB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20240" y="21488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商品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63240" y="21031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排队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600200" y="306324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口令码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017520" y="301752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交易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286000" y="3886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历史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Cloud 19"/>
          <p:cNvSpPr/>
          <p:nvPr/>
        </p:nvSpPr>
        <p:spPr>
          <a:xfrm>
            <a:off x="640080" y="4709160"/>
            <a:ext cx="2011680" cy="914400"/>
          </a:xfrm>
          <a:prstGeom prst="cloud">
            <a:avLst/>
          </a:prstGeom>
          <a:solidFill>
            <a:srgbClr val="FFFFFF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loud 20"/>
          <p:cNvSpPr/>
          <p:nvPr/>
        </p:nvSpPr>
        <p:spPr>
          <a:xfrm>
            <a:off x="4023360" y="4846320"/>
            <a:ext cx="2103120" cy="822960"/>
          </a:xfrm>
          <a:prstGeom prst="cloud">
            <a:avLst/>
          </a:prstGeom>
          <a:solidFill>
            <a:srgbClr val="FFFFFF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9834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支付/退款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383280" y="1874519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营销/秒杀/拼团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343400" y="507492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配送物流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35661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库存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34840" y="379476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评价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566160" y="525780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000" b="1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通知/报表</a:t>
            </a:r>
            <a:endParaRPr sz="1000" b="1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58978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圈外（虚线云）：评价 · 支付与退款 · 配送 · 营销 · 库存 · 通知 · 统计报表……都想到了，明确不纳入本期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55080" y="1386205"/>
            <a:ext cx="5330825" cy="4831715"/>
          </a:xfrm>
          <a:prstGeom prst="roundRect">
            <a:avLst/>
          </a:prstGeom>
          <a:solidFill>
            <a:srgbClr val="EEF4F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637030"/>
            <a:ext cx="475488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▎与核心流程相关的两个</a:t>
            </a:r>
            <a:r>
              <a:rPr lang="zh-CN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待确认项</a:t>
            </a:r>
            <a:endParaRPr lang="zh-CN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75120" y="2193290"/>
            <a:ext cx="47548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359025"/>
            <a:ext cx="4389120" cy="8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TBD-02</a:t>
            </a:r>
            <a:r>
              <a:rPr sz="125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卖家「进入交易」的操作细节</a:t>
            </a:r>
            <a:endParaRPr sz="125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lang="zh-CN" altLang="en-US" sz="14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是否只能对队列第一位使用？卖家能否一直不点？是否有超时自动进入？</a:t>
            </a:r>
            <a:r>
              <a:rPr sz="14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列入待办，不阻塞本期开发。</a:t>
            </a:r>
            <a:endParaRPr sz="14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675120" y="3576955"/>
            <a:ext cx="475488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49110" y="3794759"/>
            <a:ext cx="4389120" cy="841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TBD-03</a:t>
            </a: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　重新排队时口令码的处理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生成新口令码，还是沿用旧码？列入待办，不阻塞本期开发。</a:t>
            </a:r>
            <a:endParaRPr sz="14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75120" y="5074920"/>
            <a:ext cx="4754880" cy="7315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5187950"/>
            <a:ext cx="4526280" cy="3841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「</a:t>
            </a:r>
            <a:r>
              <a:rPr lang="zh-CN" altLang="en-US"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zh-CN" altLang="en-US"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上内容尚未最终确认，不纳入本期范围；确认后再补充到后续版本。</a:t>
            </a: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口令码：无账号体系下的「临时身份」</a:t>
            </a:r>
            <a:endParaRPr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3/5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1463040"/>
            <a:ext cx="420624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提交意向成功当场生成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181051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页面直接显示，提醒买家自行保存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32104" y="2121408"/>
            <a:ext cx="0" cy="237744"/>
          </a:xfrm>
          <a:prstGeom prst="line">
            <a:avLst/>
          </a:prstGeom>
          <a:ln w="19050">
            <a:solidFill>
              <a:srgbClr val="7F7F7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48640" y="2532888"/>
            <a:ext cx="566928" cy="56692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487168"/>
            <a:ext cx="420624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可查位次 · 可改姓名电话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25880" y="283464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改信息不动位次；可主动撤销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32104" y="3145536"/>
            <a:ext cx="0" cy="237744"/>
          </a:xfrm>
          <a:prstGeom prst="line">
            <a:avLst/>
          </a:prstGeom>
          <a:ln w="19050">
            <a:solidFill>
              <a:srgbClr val="7F7F7F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548640" y="3557016"/>
            <a:ext cx="566928" cy="5669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死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25880" y="3511296"/>
            <a:ext cx="4206240" cy="28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四种死法，立即失效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858895"/>
            <a:ext cx="2186940" cy="464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交易成功 / 交易失败 / 商品下架 / 主动撤销——不可查、不可改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364990" y="1348740"/>
          <a:ext cx="7320915" cy="446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7575"/>
                <a:gridCol w="1697990"/>
                <a:gridCol w="1851660"/>
                <a:gridCol w="1583690"/>
              </a:tblGrid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口令码状态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可查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可改信息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可撤销</a:t>
                      </a:r>
                      <a:endParaRPr sz="160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排队中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已进入交易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DF2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DF2D9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交易成功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交易失败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已作废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重新排队中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2E7D32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✓</a:t>
                      </a:r>
                      <a:endParaRPr sz="1600" b="1" i="0">
                        <a:solidFill>
                          <a:srgbClr val="2E7D32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753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4040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商品已下架</a:t>
                      </a:r>
                      <a:endParaRPr sz="1600" b="1" i="0">
                        <a:solidFill>
                          <a:srgbClr val="40404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✗</a:t>
                      </a:r>
                      <a:endParaRPr sz="1600" b="1" i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排队与替补</a:t>
            </a: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需求设计 · 4/5</a:t>
            </a:r>
            <a:endParaRPr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02920" y="1197610"/>
            <a:ext cx="1118311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27076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endParaRPr sz="22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1417511"/>
            <a:ext cx="5852160" cy="282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严格按提交时间先到先得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60920" y="1261618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卖家不能挑人，系统也不给挑的入口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2020570"/>
            <a:ext cx="1118311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09372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endParaRPr sz="22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2240470"/>
            <a:ext cx="5852160" cy="282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商品一旦冻结（手动或自动），队列立即封口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60920" y="2084578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一律不收新意向——连「冻结但不封口」的选项都不存在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2843530"/>
            <a:ext cx="11183112" cy="713232"/>
          </a:xfrm>
          <a:prstGeom prst="rect">
            <a:avLst/>
          </a:prstGeom>
          <a:solidFill>
            <a:srgbClr val="EEF4FB"/>
          </a:solidFill>
          <a:ln w="12700">
            <a:solidFill>
              <a:srgbClr val="DEE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1668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endParaRPr sz="22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3063431"/>
            <a:ext cx="5852160" cy="282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交易失败 → 恢复在售 → 自动唤醒下一位</a:t>
            </a:r>
            <a:endParaRPr sz="1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60920" y="2907538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无需卖家介入；递补后商品再次冻结、再次封口</a:t>
            </a:r>
            <a:endParaRPr sz="11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846194"/>
            <a:ext cx="73152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▎队列演变时序：A 进入交易 → A 失败 → B 自动递补 → A 重新排队</a:t>
            </a:r>
            <a:endParaRPr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3434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阶段 1　</a:t>
            </a:r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 进入交易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508760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194560" y="4846320"/>
            <a:ext cx="502920" cy="502920"/>
          </a:xfrm>
          <a:prstGeom prst="ellipse">
            <a:avLst/>
          </a:prstGeom>
          <a:solidFill>
            <a:srgbClr val="B8860B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5532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商品冻结 · 队列封口</a:t>
            </a:r>
            <a:endParaRPr sz="9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172968" y="5166360"/>
            <a:ext cx="237744" cy="0"/>
          </a:xfrm>
          <a:prstGeom prst="line">
            <a:avLst/>
          </a:prstGeom>
          <a:ln w="2794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493008" y="43434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0168" y="4434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阶段 2　</a:t>
            </a:r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 交易失败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813048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4498848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5184648" y="4846320"/>
            <a:ext cx="502920" cy="50292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30168" y="5532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商品解冻 · 等待递补</a:t>
            </a:r>
            <a:endParaRPr sz="9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163056" y="5166360"/>
            <a:ext cx="237744" cy="0"/>
          </a:xfrm>
          <a:prstGeom prst="line">
            <a:avLst/>
          </a:prstGeom>
          <a:ln w="2794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83096" y="43434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0256" y="4434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阶段 3　</a:t>
            </a:r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 自动递补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803136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488936" y="4846320"/>
            <a:ext cx="502920" cy="502920"/>
          </a:xfrm>
          <a:prstGeom prst="ellipse">
            <a:avLst/>
          </a:prstGeom>
          <a:solidFill>
            <a:srgbClr val="B8860B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174736" y="4846320"/>
            <a:ext cx="502920" cy="502920"/>
          </a:xfrm>
          <a:prstGeom prst="ellipse">
            <a:avLst/>
          </a:prstGeom>
          <a:solidFill>
            <a:srgbClr val="C0392B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0256" y="5532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再次冻结 · 再次封口</a:t>
            </a:r>
            <a:endParaRPr sz="9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9153144" y="5166360"/>
            <a:ext cx="237744" cy="0"/>
          </a:xfrm>
          <a:prstGeom prst="line">
            <a:avLst/>
          </a:prstGeom>
          <a:ln w="27940">
            <a:solidFill>
              <a:srgbClr val="2E75B6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473184" y="434340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10344" y="44348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阶段 4　</a:t>
            </a:r>
            <a:r>
              <a:rPr sz="1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 重新排队</a:t>
            </a:r>
            <a:endParaRPr sz="1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9793224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0479024" y="4846320"/>
            <a:ext cx="502920" cy="502920"/>
          </a:xfrm>
          <a:prstGeom prst="ellipse">
            <a:avLst/>
          </a:prstGeom>
          <a:solidFill>
            <a:srgbClr val="B8860B"/>
          </a:solidFill>
          <a:ln w="1524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11164824" y="4846320"/>
            <a:ext cx="502920" cy="502920"/>
          </a:xfrm>
          <a:prstGeom prst="ellipse">
            <a:avLst/>
          </a:prstGeom>
          <a:solidFill>
            <a:srgbClr val="DEEBF7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13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610344" y="55321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A 回队尾 · 更新提交时间</a:t>
            </a:r>
            <a:endParaRPr sz="95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-661714" y="1246957"/>
            <a:ext cx="9059917" cy="1351280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>
            <a:defPPr>
              <a:defRPr lang="zh-CN"/>
            </a:defPPr>
            <a:lvl1pPr algn="ctr">
              <a:defRPr sz="8800">
                <a:gradFill>
                  <a:gsLst>
                    <a:gs pos="0">
                      <a:srgbClr val="00B0F0"/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2400000" scaled="0"/>
                </a:gradFill>
                <a:effectLst>
                  <a:outerShdw blurRad="317500" dist="165100" dir="2700000" algn="tl" rotWithShape="0">
                    <a:prstClr val="black">
                      <a:alpha val="60000"/>
                    </a:prst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en-US" altLang="zh-CN" sz="8000" b="1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THREE</a:t>
            </a:r>
            <a:endParaRPr lang="zh-CN" altLang="en-US" sz="8000" b="1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1598930" y="283464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前端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" y="1844040"/>
            <a:ext cx="575754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2272665"/>
            <a:ext cx="6503035" cy="35185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27322" r="28033"/>
          <a:stretch>
            <a:fillRect/>
          </a:stretch>
        </p:blipFill>
        <p:spPr>
          <a:xfrm>
            <a:off x="7139940" y="1339850"/>
            <a:ext cx="4222115" cy="48437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25805" y="3072765"/>
            <a:ext cx="550608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1. </a:t>
            </a:r>
            <a:r>
              <a:rPr lang="zh-CN" altLang="en-US" sz="2800" b="1"/>
              <a:t>商品摘要模块：</a:t>
            </a:r>
            <a:r>
              <a:rPr lang="zh-CN" altLang="en-US" sz="2400"/>
              <a:t>展示当前可购买商品图片、商品名称、商品价格</a:t>
            </a:r>
            <a:r>
              <a:rPr lang="en-US" altLang="zh-CN" sz="2400"/>
              <a:t>.</a:t>
            </a:r>
            <a:endParaRPr lang="zh-CN" altLang="en-US" sz="2400"/>
          </a:p>
          <a:p>
            <a:r>
              <a:rPr lang="en-US" altLang="zh-CN" sz="2800"/>
              <a:t>2</a:t>
            </a:r>
            <a:r>
              <a:rPr lang="zh-CN" altLang="en-US" sz="2800"/>
              <a:t>. </a:t>
            </a:r>
            <a:r>
              <a:rPr lang="zh-CN" altLang="en-US" sz="2800" b="1"/>
              <a:t>表单输入模块</a:t>
            </a:r>
            <a:r>
              <a:rPr lang="zh-CN" altLang="en-US" sz="2800"/>
              <a:t>：</a:t>
            </a:r>
            <a:r>
              <a:rPr lang="zh-CN" altLang="en-US" sz="2400"/>
              <a:t>包含姓名、联系电话两个必填输入框；校验失败展示红色错误文案。</a:t>
            </a:r>
            <a:endParaRPr lang="zh-CN" altLang="en-US" sz="2400"/>
          </a:p>
          <a:p>
            <a:r>
              <a:rPr lang="en-US" altLang="zh-CN" sz="2800"/>
              <a:t>3</a:t>
            </a:r>
            <a:r>
              <a:rPr lang="zh-CN" altLang="en-US" sz="2800"/>
              <a:t>. </a:t>
            </a:r>
            <a:r>
              <a:rPr lang="zh-CN" altLang="en-US" sz="2800" b="1"/>
              <a:t>底部提交按钮模块</a:t>
            </a:r>
            <a:r>
              <a:rPr lang="zh-CN" altLang="en-US" sz="2800"/>
              <a:t>：</a:t>
            </a:r>
            <a:r>
              <a:rPr lang="zh-CN" altLang="en-US" sz="2400"/>
              <a:t>固定在页面底部，提交过程设置按钮禁用状态，防止用户重复点击重复提交。</a:t>
            </a:r>
            <a:endParaRPr lang="zh-CN" altLang="en-US" sz="2400"/>
          </a:p>
        </p:txBody>
      </p:sp>
      <p:sp>
        <p:nvSpPr>
          <p:cNvPr id="20" name="文本框 19"/>
          <p:cNvSpPr txBox="1"/>
          <p:nvPr/>
        </p:nvSpPr>
        <p:spPr>
          <a:xfrm>
            <a:off x="502920" y="935355"/>
            <a:ext cx="3011170" cy="1129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买家端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25805" y="1530350"/>
            <a:ext cx="5173345" cy="152527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55" y="1530350"/>
            <a:ext cx="4581525" cy="15043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0395" y="1342390"/>
            <a:ext cx="594741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1. form</a:t>
            </a:r>
            <a:r>
              <a:rPr lang="zh-CN" altLang="en-US" sz="2400"/>
              <a:t>为 </a:t>
            </a:r>
            <a:r>
              <a:rPr lang="en-US" altLang="zh-CN" sz="2400"/>
              <a:t>reactive </a:t>
            </a:r>
            <a:r>
              <a:rPr lang="zh-CN" altLang="en-US" sz="2400"/>
              <a:t>响应式对象，配合模板</a:t>
            </a:r>
            <a:r>
              <a:rPr lang="en-US" altLang="zh-CN" sz="2400"/>
              <a:t>v-model</a:t>
            </a:r>
            <a:r>
              <a:rPr lang="zh-CN" altLang="en-US" sz="2400"/>
              <a:t>双向绑定，实时收集用户表单输入；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en-US" altLang="zh-CN" sz="2400"/>
              <a:t>2. errors</a:t>
            </a:r>
            <a:r>
              <a:rPr lang="zh-CN" altLang="en-US" sz="2400"/>
              <a:t>响应式对象保存校验错误信息；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en-US" altLang="zh-CN" sz="2400"/>
              <a:t>3. validate()</a:t>
            </a:r>
            <a:r>
              <a:rPr lang="zh-CN" altLang="en-US" sz="2400"/>
              <a:t>函数完成校验逻辑：姓名非空、长度限制，手机号正则校验；校验失败给 </a:t>
            </a:r>
            <a:r>
              <a:rPr lang="en-US" altLang="zh-CN" sz="2400"/>
              <a:t>errors </a:t>
            </a:r>
            <a:r>
              <a:rPr lang="zh-CN" altLang="en-US" sz="2400"/>
              <a:t>赋值；</a:t>
            </a:r>
            <a:endParaRPr lang="zh-CN" altLang="en-US" sz="2400"/>
          </a:p>
          <a:p>
            <a:pPr>
              <a:lnSpc>
                <a:spcPct val="150000"/>
              </a:lnSpc>
            </a:pPr>
            <a:r>
              <a:rPr lang="zh-CN" altLang="en-US" sz="2400"/>
              <a:t>4. 模板直接读取</a:t>
            </a:r>
            <a:r>
              <a:rPr lang="en-US" altLang="zh-CN" sz="2400"/>
              <a:t>errors，</a:t>
            </a:r>
            <a:r>
              <a:rPr lang="zh-CN" altLang="en-US" sz="2400"/>
              <a:t>渲染错误文字与输入框错误样式。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6937375" y="908050"/>
            <a:ext cx="4537710" cy="5908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const errors = reactive({ name: '', phone: '' })</a:t>
            </a:r>
            <a:endParaRPr lang="en-US" altLang="zh-CN"/>
          </a:p>
          <a:p>
            <a:r>
              <a:rPr lang="en-US" altLang="zh-CN"/>
              <a:t>const form = reactive({ name: '', phone: '' })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function validate() {</a:t>
            </a:r>
            <a:endParaRPr lang="en-US" altLang="zh-CN"/>
          </a:p>
          <a:p>
            <a:r>
              <a:rPr lang="en-US" altLang="zh-CN"/>
              <a:t>  errors.name = ''</a:t>
            </a:r>
            <a:endParaRPr lang="en-US" altLang="zh-CN"/>
          </a:p>
          <a:p>
            <a:r>
              <a:rPr lang="en-US" altLang="zh-CN"/>
              <a:t>  errors.phone = ''</a:t>
            </a:r>
            <a:endParaRPr lang="en-US" altLang="zh-CN"/>
          </a:p>
          <a:p>
            <a:r>
              <a:rPr lang="en-US" altLang="zh-CN"/>
              <a:t>  const name = form.name.trim()</a:t>
            </a:r>
            <a:endParaRPr lang="en-US" altLang="zh-CN"/>
          </a:p>
          <a:p>
            <a:r>
              <a:rPr lang="en-US" altLang="zh-CN"/>
              <a:t>  if (!name) {</a:t>
            </a:r>
            <a:endParaRPr lang="en-US" altLang="zh-CN"/>
          </a:p>
          <a:p>
            <a:r>
              <a:rPr lang="en-US" altLang="zh-CN"/>
              <a:t>    errors.name = '</a:t>
            </a:r>
            <a:r>
              <a:rPr lang="zh-CN" altLang="en-US"/>
              <a:t>请输入您的姓名'</a:t>
            </a:r>
            <a:endParaRPr lang="zh-CN" altLang="en-US"/>
          </a:p>
          <a:p>
            <a:r>
              <a:rPr lang="en-US" altLang="zh-CN"/>
              <a:t>  } else if (name.length &gt; 64) {</a:t>
            </a:r>
            <a:endParaRPr lang="en-US" altLang="zh-CN"/>
          </a:p>
          <a:p>
            <a:r>
              <a:rPr lang="en-US" altLang="zh-CN"/>
              <a:t>    errors.name = '</a:t>
            </a:r>
            <a:r>
              <a:rPr lang="zh-CN" altLang="en-US"/>
              <a:t>姓名不能超过 64 个字'</a:t>
            </a:r>
            <a:endParaRPr lang="zh-CN" altLang="en-US"/>
          </a:p>
          <a:p>
            <a:r>
              <a:rPr lang="en-US" altLang="zh-CN"/>
              <a:t>  }</a:t>
            </a:r>
            <a:endParaRPr lang="en-US" altLang="zh-CN"/>
          </a:p>
          <a:p>
            <a:r>
              <a:rPr lang="en-US" altLang="zh-CN"/>
              <a:t>  const phone = form.phone.trim()</a:t>
            </a:r>
            <a:endParaRPr lang="en-US" altLang="zh-CN"/>
          </a:p>
          <a:p>
            <a:r>
              <a:rPr lang="en-US" altLang="zh-CN"/>
              <a:t>  if (!phone) {</a:t>
            </a:r>
            <a:endParaRPr lang="en-US" altLang="zh-CN"/>
          </a:p>
          <a:p>
            <a:r>
              <a:rPr lang="en-US" altLang="zh-CN"/>
              <a:t>    errors.phone = '</a:t>
            </a:r>
            <a:r>
              <a:rPr lang="zh-CN" altLang="en-US"/>
              <a:t>请输入联系电话'</a:t>
            </a:r>
            <a:endParaRPr lang="zh-CN" altLang="en-US"/>
          </a:p>
          <a:p>
            <a:r>
              <a:rPr lang="en-US" altLang="zh-CN"/>
              <a:t>  } else if (!PHONE_RE.test(phone)) {</a:t>
            </a:r>
            <a:endParaRPr lang="en-US" altLang="zh-CN"/>
          </a:p>
          <a:p>
            <a:r>
              <a:rPr lang="en-US" altLang="zh-CN"/>
              <a:t>    errors.phone = '</a:t>
            </a:r>
            <a:r>
              <a:rPr lang="zh-CN" altLang="en-US"/>
              <a:t>联系电话格式不正确'</a:t>
            </a:r>
            <a:endParaRPr lang="zh-CN" altLang="en-US"/>
          </a:p>
          <a:p>
            <a:r>
              <a:rPr lang="en-US" altLang="zh-CN"/>
              <a:t>  }</a:t>
            </a:r>
            <a:endParaRPr lang="en-US" altLang="zh-CN"/>
          </a:p>
          <a:p>
            <a:r>
              <a:rPr lang="en-US" altLang="zh-CN"/>
              <a:t>  return !errors.name &amp;&amp; !errors.phone</a:t>
            </a:r>
            <a:endParaRPr lang="en-US" altLang="zh-CN"/>
          </a:p>
          <a:p>
            <a:r>
              <a:rPr lang="en-US" altLang="zh-CN"/>
              <a:t>}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f2ca3ec9b71f776a03a5be897f0aebcc"/>
          <p:cNvPicPr>
            <a:picLocks noChangeAspect="1"/>
          </p:cNvPicPr>
          <p:nvPr/>
        </p:nvPicPr>
        <p:blipFill>
          <a:blip r:embed="rId1"/>
          <a:srcRect l="28066" r="27579"/>
          <a:stretch>
            <a:fillRect/>
          </a:stretch>
        </p:blipFill>
        <p:spPr>
          <a:xfrm>
            <a:off x="342265" y="1491615"/>
            <a:ext cx="4158615" cy="4768850"/>
          </a:xfrm>
          <a:prstGeom prst="rect">
            <a:avLst/>
          </a:prstGeom>
        </p:spPr>
      </p:pic>
      <p:pic>
        <p:nvPicPr>
          <p:cNvPr id="16" name="图片 15" descr="c3a2e3ba2854be976bbb0311de66c049"/>
          <p:cNvPicPr>
            <a:picLocks noChangeAspect="1"/>
          </p:cNvPicPr>
          <p:nvPr/>
        </p:nvPicPr>
        <p:blipFill>
          <a:blip r:embed="rId2"/>
          <a:srcRect l="27964" r="29393"/>
          <a:stretch>
            <a:fillRect/>
          </a:stretch>
        </p:blipFill>
        <p:spPr>
          <a:xfrm>
            <a:off x="7527290" y="1453515"/>
            <a:ext cx="4177030" cy="50069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73100" y="935355"/>
            <a:ext cx="1979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成功提交</a:t>
            </a:r>
            <a:endParaRPr lang="zh-CN" altLang="en-US" sz="3200" b="1"/>
          </a:p>
        </p:txBody>
      </p:sp>
      <p:sp>
        <p:nvSpPr>
          <p:cNvPr id="21" name="文本框 20"/>
          <p:cNvSpPr txBox="1"/>
          <p:nvPr/>
        </p:nvSpPr>
        <p:spPr>
          <a:xfrm>
            <a:off x="7425690" y="887095"/>
            <a:ext cx="19792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弹窗</a:t>
            </a:r>
            <a:r>
              <a:rPr lang="zh-CN" altLang="en-US" sz="3200" b="1"/>
              <a:t>提醒</a:t>
            </a:r>
            <a:endParaRPr lang="zh-CN" altLang="en-US" sz="3200" b="1"/>
          </a:p>
        </p:txBody>
      </p:sp>
      <p:sp>
        <p:nvSpPr>
          <p:cNvPr id="22" name="文本框 21"/>
          <p:cNvSpPr txBox="1"/>
          <p:nvPr/>
        </p:nvSpPr>
        <p:spPr>
          <a:xfrm>
            <a:off x="4856480" y="2091055"/>
            <a:ext cx="247840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根据周展羽的需求澄清，提交意向时，系统生成一个唯一口令码，在提交成功页面直接展示，提示买家保存。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5805" y="1753235"/>
            <a:ext cx="59474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问：卖家的账号是注册还是，直接指定</a:t>
            </a:r>
            <a:endParaRPr lang="zh-CN" altLang="en-US" sz="2400"/>
          </a:p>
          <a:p>
            <a:r>
              <a:rPr lang="zh-CN" altLang="en-US" sz="2400"/>
              <a:t>答：@刘云炎</a:t>
            </a:r>
            <a:endParaRPr lang="zh-CN" altLang="en-US" sz="2400"/>
          </a:p>
          <a:p>
            <a:r>
              <a:rPr lang="zh-CN" altLang="en-US" sz="2400"/>
              <a:t>直接指定的，就固定那一个账号，没有注册流程。整个系统是单卖家模式，只有我这一个账号，用用户名和密码登录后台就行，买家那边才是免注册。</a:t>
            </a:r>
            <a:endParaRPr lang="zh-CN" altLang="en-US" sz="24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l="36358" t="25930" r="35565" b="13595"/>
          <a:stretch>
            <a:fillRect/>
          </a:stretch>
        </p:blipFill>
        <p:spPr>
          <a:xfrm>
            <a:off x="7569200" y="1668780"/>
            <a:ext cx="3528695" cy="387286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521335" y="960755"/>
            <a:ext cx="17056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卖家端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Rounded Rectangle 30"/>
          <p:cNvSpPr/>
          <p:nvPr/>
        </p:nvSpPr>
        <p:spPr>
          <a:xfrm>
            <a:off x="716280" y="4330065"/>
            <a:ext cx="5956935" cy="1376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ym typeface="+mn-ea"/>
              </a:rPr>
              <a:t>先让空壳服务跑通再动业务，把表结构、改一次要返工一大片"的决策全部前置成文档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15645" y="4322445"/>
            <a:ext cx="595757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800">
                <a:latin typeface="黑体" panose="02010609060101010101" charset="-122"/>
                <a:ea typeface="黑体" panose="02010609060101010101" charset="-122"/>
              </a:rPr>
              <a:t>根据以上需求澄清，知道卖家不需要有注册功能，只需要登录功能就能发表商品</a:t>
            </a:r>
            <a:endParaRPr lang="zh-CN" altLang="en-US" sz="280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rcRect r="36065" b="17234"/>
          <a:stretch>
            <a:fillRect/>
          </a:stretch>
        </p:blipFill>
        <p:spPr>
          <a:xfrm>
            <a:off x="5942965" y="1611630"/>
            <a:ext cx="5542915" cy="36258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20700" y="1101725"/>
            <a:ext cx="506412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根据丁月诚的需求澄清，下架有两条路径：</a:t>
            </a:r>
            <a:endParaRPr lang="zh-CN" altLang="en-US" sz="2400"/>
          </a:p>
          <a:p>
            <a:r>
              <a:rPr lang="en-US" altLang="zh-CN" sz="2400"/>
              <a:t>1.</a:t>
            </a:r>
            <a:r>
              <a:rPr lang="zh-CN" altLang="en-US" sz="2400"/>
              <a:t>交易成功：商品从「已冻结」直接转「已下架」；</a:t>
            </a:r>
            <a:endParaRPr lang="zh-CN" altLang="en-US" sz="2400"/>
          </a:p>
          <a:p>
            <a:r>
              <a:rPr lang="en-US" altLang="zh-CN" sz="2400"/>
              <a:t>2.</a:t>
            </a:r>
            <a:r>
              <a:rPr lang="zh-CN" altLang="en-US" sz="2400"/>
              <a:t>手动下架：商品还在「在售」状态时，卖家主动把它撤下（比如为了腾位置发布新商品）。</a:t>
            </a:r>
            <a:endParaRPr lang="zh-CN" altLang="en-US" sz="2400"/>
          </a:p>
        </p:txBody>
      </p:sp>
      <p:sp>
        <p:nvSpPr>
          <p:cNvPr id="19" name="文本框 18"/>
          <p:cNvSpPr txBox="1"/>
          <p:nvPr/>
        </p:nvSpPr>
        <p:spPr>
          <a:xfrm>
            <a:off x="521335" y="3764280"/>
            <a:ext cx="5063490" cy="2338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根据周到的需求澄清，冻结有两条路，走的是同一个状态：一条是自动的——商品一进入交易（我选定跟某个人线下谈的时候），系统自动把它从"在售"转成"已冻结"；另一条是我在后台手动冻结。</a:t>
            </a:r>
            <a:endParaRPr lang="zh-CN" altLang="en-US" sz="2400"/>
          </a:p>
        </p:txBody>
      </p:sp>
      <p:cxnSp>
        <p:nvCxnSpPr>
          <p:cNvPr id="20" name="直接连接符 19"/>
          <p:cNvCxnSpPr/>
          <p:nvPr/>
        </p:nvCxnSpPr>
        <p:spPr>
          <a:xfrm>
            <a:off x="536575" y="3753485"/>
            <a:ext cx="52362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H="1">
            <a:off x="502920" y="1101725"/>
            <a:ext cx="17780" cy="5001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5772785" y="1158240"/>
            <a:ext cx="0" cy="4944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14400"/>
            <a:ext cx="10696575" cy="5483860"/>
          </a:xfrm>
          <a:prstGeom prst="rect">
            <a:avLst/>
          </a:prstGeom>
        </p:spPr>
      </p:pic>
      <p:sp>
        <p:nvSpPr>
          <p:cNvPr id="20" name="椭圆 19"/>
          <p:cNvSpPr/>
          <p:nvPr/>
        </p:nvSpPr>
        <p:spPr>
          <a:xfrm>
            <a:off x="6594475" y="3418205"/>
            <a:ext cx="5180330" cy="273621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757035" y="3816985"/>
            <a:ext cx="46355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/>
              <a:t>根据周育民的需求澄清，在后台发布商品，名称和价格是必填的，描述、图片随便填不填都行（图片最多一张主图）。但是同一时间只能有一样商品在售。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1101725"/>
            <a:ext cx="6229350" cy="499745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990715" y="1188085"/>
            <a:ext cx="463550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 submitIntent </a:t>
            </a:r>
            <a:r>
              <a:rPr lang="zh-CN" altLang="en-US" sz="2400" b="1"/>
              <a:t>提交购买意向</a:t>
            </a:r>
            <a:endParaRPr lang="zh-CN" altLang="en-US" sz="2400" b="1"/>
          </a:p>
          <a:p>
            <a:r>
              <a:rPr lang="zh-CN" altLang="en-US" sz="2400"/>
              <a:t>业务说明：买家提交购买意向，成功后生成口令码 </a:t>
            </a:r>
            <a:r>
              <a:rPr lang="en-US" altLang="zh-CN" sz="2400"/>
              <a:t>command_code。</a:t>
            </a:r>
            <a:endParaRPr lang="en-US" altLang="zh-CN" sz="2400"/>
          </a:p>
          <a:p>
            <a:r>
              <a:rPr lang="en-US" altLang="zh-CN" sz="2400" b="1"/>
              <a:t>2. queryIntent </a:t>
            </a:r>
            <a:r>
              <a:rPr lang="zh-CN" altLang="en-US" sz="2400" b="1"/>
              <a:t>查询意向（凭口令码）</a:t>
            </a:r>
            <a:endParaRPr lang="zh-CN" altLang="en-US" sz="2400" b="1"/>
          </a:p>
          <a:p>
            <a:r>
              <a:rPr lang="zh-CN" altLang="en-US" sz="2400"/>
              <a:t>业务说明：使用口令码查询当前排队订单状态；</a:t>
            </a:r>
            <a:endParaRPr lang="zh-CN" altLang="en-US" sz="2400"/>
          </a:p>
          <a:p>
            <a:r>
              <a:rPr lang="en-US" altLang="zh-CN" sz="2400" b="1"/>
              <a:t>3. updateIntent </a:t>
            </a:r>
            <a:r>
              <a:rPr lang="zh-CN" altLang="en-US" sz="2400" b="1"/>
              <a:t>修改意向（姓名 / 电话）</a:t>
            </a:r>
            <a:endParaRPr lang="zh-CN" altLang="en-US" sz="2400" b="1"/>
          </a:p>
          <a:p>
            <a:endParaRPr lang="zh-CN" altLang="en-US" sz="2400"/>
          </a:p>
          <a:p>
            <a:r>
              <a:rPr lang="en-US" altLang="zh-CN" sz="2400" b="1"/>
              <a:t>4. cancelIntent </a:t>
            </a:r>
            <a:r>
              <a:rPr lang="zh-CN" altLang="en-US" sz="2400" b="1"/>
              <a:t>撤销排队意向</a:t>
            </a:r>
            <a:endParaRPr lang="zh-CN" altLang="en-US" sz="2400" b="1"/>
          </a:p>
          <a:p>
            <a:endParaRPr lang="zh-CN" altLang="en-US" sz="24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前端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前端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80455" y="1188085"/>
            <a:ext cx="5445760" cy="48875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/>
              <a:t>一、登录与账号模块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1. login </a:t>
            </a:r>
            <a:r>
              <a:rPr lang="zh-CN" altLang="en-US" sz="2400" b="1"/>
              <a:t>卖家登录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2. changePassword </a:t>
            </a:r>
            <a:r>
              <a:rPr lang="zh-CN" altLang="en-US" sz="2400" b="1"/>
              <a:t>修改密码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zh-CN" altLang="en-US" sz="2400" b="1"/>
              <a:t>二、商品管理模块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1. getCurrentProduct </a:t>
            </a:r>
            <a:r>
              <a:rPr lang="zh-CN" altLang="en-US" sz="2400" b="1"/>
              <a:t>获取当前商品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2. publishProduct </a:t>
            </a:r>
            <a:r>
              <a:rPr lang="zh-CN" altLang="en-US" sz="2400" b="1"/>
              <a:t>发布商品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3. offShelf </a:t>
            </a:r>
            <a:r>
              <a:rPr lang="zh-CN" altLang="en-US" sz="2400" b="1"/>
              <a:t>商品下架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4. freezeProduct </a:t>
            </a:r>
            <a:r>
              <a:rPr lang="zh-CN" altLang="en-US" sz="2400" b="1"/>
              <a:t>冻结商品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5. unfreezeProduct </a:t>
            </a:r>
            <a:r>
              <a:rPr lang="zh-CN" altLang="en-US" sz="2400" b="1"/>
              <a:t>解除商品冻结</a:t>
            </a:r>
            <a:endParaRPr lang="zh-CN" altLang="en-US" sz="2400" b="1"/>
          </a:p>
          <a:p>
            <a:pPr>
              <a:lnSpc>
                <a:spcPct val="130000"/>
              </a:lnSpc>
            </a:pPr>
            <a:r>
              <a:rPr lang="en-US" altLang="zh-CN" sz="2400" b="1"/>
              <a:t>6. startTransaction </a:t>
            </a:r>
            <a:r>
              <a:rPr lang="zh-CN" altLang="en-US" sz="2400" b="1"/>
              <a:t>开启交易</a:t>
            </a:r>
            <a:endParaRPr lang="zh-CN" altLang="en-US" sz="2400" b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335" y="935355"/>
            <a:ext cx="5056505" cy="56476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文本框 13"/>
          <p:cNvSpPr txBox="1"/>
          <p:nvPr/>
        </p:nvSpPr>
        <p:spPr>
          <a:xfrm>
            <a:off x="-661714" y="1246957"/>
            <a:ext cx="9059917" cy="1351280"/>
          </a:xfrm>
          <a:prstGeom prst="rect">
            <a:avLst/>
          </a:prstGeom>
          <a:noFill/>
        </p:spPr>
        <p:txBody>
          <a:bodyPr wrap="square" lIns="121889" tIns="60944" rIns="121889" bIns="60944" rtlCol="0">
            <a:spAutoFit/>
          </a:bodyPr>
          <a:lstStyle>
            <a:defPPr>
              <a:defRPr lang="zh-CN"/>
            </a:defPPr>
            <a:lvl1pPr algn="ctr">
              <a:defRPr sz="8800">
                <a:gradFill>
                  <a:gsLst>
                    <a:gs pos="0">
                      <a:srgbClr val="00B0F0"/>
                    </a:gs>
                    <a:gs pos="100000">
                      <a:schemeClr val="tx2">
                        <a:lumMod val="50000"/>
                      </a:schemeClr>
                    </a:gs>
                  </a:gsLst>
                  <a:lin ang="2400000" scaled="0"/>
                </a:gradFill>
                <a:effectLst>
                  <a:outerShdw blurRad="317500" dist="165100" dir="2700000" algn="tl" rotWithShape="0">
                    <a:prstClr val="black">
                      <a:alpha val="60000"/>
                    </a:prstClr>
                  </a:outerShdw>
                </a:effectLst>
                <a:latin typeface="汉仪尚巍手书W" panose="00020600040101010101" pitchFamily="18" charset="-122"/>
                <a:ea typeface="汉仪尚巍手书W" panose="00020600040101010101" pitchFamily="18" charset="-122"/>
              </a:defRPr>
            </a:lvl1pPr>
          </a:lstStyle>
          <a:p>
            <a:r>
              <a:rPr lang="en-US" altLang="zh-CN" sz="8000" b="1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PART FOUR</a:t>
            </a:r>
            <a:endParaRPr lang="zh-CN" altLang="en-US" sz="8000" b="1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1598930" y="2834640"/>
            <a:ext cx="335724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后端</a:t>
            </a:r>
            <a:r>
              <a:rPr lang="zh-CN" altLang="en-US" sz="4400">
                <a:solidFill>
                  <a:schemeClr val="tx2">
                    <a:lumMod val="75000"/>
                  </a:schemeClr>
                </a:solidFill>
                <a:latin typeface="仿宋" panose="02010609060101010101" charset="-122"/>
                <a:ea typeface="仿宋" panose="02010609060101010101" charset="-122"/>
              </a:rPr>
              <a:t>测试</a:t>
            </a:r>
            <a:endParaRPr lang="zh-CN" altLang="en-US" sz="4400">
              <a:solidFill>
                <a:schemeClr val="tx2">
                  <a:lumMod val="75000"/>
                </a:schemeClr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45" y="1845310"/>
            <a:ext cx="5757545" cy="6858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2575" y="2272665"/>
            <a:ext cx="6503035" cy="351853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r>
              <a:rPr lang="zh-CN" sz="11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132205" y="1459230"/>
            <a:ext cx="3566795" cy="11988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132840" y="1467485"/>
            <a:ext cx="3639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本机已就绪 </a:t>
            </a:r>
            <a:r>
              <a:rPr lang="en-US" altLang="zh-CN" sz="2400"/>
              <a:t>Python </a:t>
            </a:r>
            <a:r>
              <a:rPr lang="zh-CN" altLang="en-US" sz="2400"/>
              <a:t>而缺少 </a:t>
            </a:r>
            <a:r>
              <a:rPr lang="en-US" altLang="zh-CN" sz="2400"/>
              <a:t>Maven/Node，</a:t>
            </a:r>
            <a:r>
              <a:rPr lang="zh-CN" altLang="en-US" sz="2400"/>
              <a:t>且需求明确要求接口文档</a:t>
            </a:r>
            <a:endParaRPr lang="zh-CN" altLang="en-US" sz="2400"/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772660" y="1882775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7387590" y="1459230"/>
            <a:ext cx="2120265" cy="92202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524750" y="1532890"/>
            <a:ext cx="2494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 FastAPI    </a:t>
            </a:r>
            <a:r>
              <a:rPr lang="en-US" altLang="zh-CN" sz="2400">
                <a:solidFill>
                  <a:srgbClr val="92D050"/>
                </a:solidFill>
              </a:rPr>
              <a:t>√</a:t>
            </a:r>
            <a:endParaRPr lang="en-US" altLang="zh-CN" sz="2400"/>
          </a:p>
          <a:p>
            <a:r>
              <a:rPr lang="en-US" altLang="zh-CN" sz="2400"/>
              <a:t>Spring Boot </a:t>
            </a:r>
            <a:r>
              <a:rPr lang="zh-CN" altLang="en-US" sz="2400">
                <a:solidFill>
                  <a:srgbClr val="FF0000"/>
                </a:solidFill>
              </a:rPr>
              <a:t>×</a:t>
            </a:r>
            <a:endParaRPr lang="zh-CN" altLang="en-US" sz="2400">
              <a:solidFill>
                <a:srgbClr val="FF00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132205" y="2930525"/>
            <a:ext cx="3598545" cy="8909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387590" y="2985770"/>
            <a:ext cx="2416810" cy="7721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7524750" y="3153410"/>
            <a:ext cx="23596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零配置的 </a:t>
            </a:r>
            <a:r>
              <a:rPr lang="en-US" altLang="zh-CN" sz="2400"/>
              <a:t>SQLite</a:t>
            </a:r>
            <a:endParaRPr lang="en-US" altLang="zh-CN" sz="2400"/>
          </a:p>
        </p:txBody>
      </p:sp>
      <p:sp>
        <p:nvSpPr>
          <p:cNvPr id="45" name="文本框 44"/>
          <p:cNvSpPr txBox="1"/>
          <p:nvPr/>
        </p:nvSpPr>
        <p:spPr>
          <a:xfrm>
            <a:off x="1132840" y="2950210"/>
            <a:ext cx="36601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"单卖家、任一时刻仅一件商品在售、队列个位数"</a:t>
            </a:r>
            <a:endParaRPr lang="zh-CN" altLang="en-US" sz="2400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005" y="4375150"/>
            <a:ext cx="2482850" cy="2482850"/>
          </a:xfrm>
          <a:prstGeom prst="rect">
            <a:avLst/>
          </a:prstGeom>
        </p:spPr>
      </p:pic>
      <p:sp>
        <p:nvSpPr>
          <p:cNvPr id="48" name="Rounded Rectangle 30"/>
          <p:cNvSpPr/>
          <p:nvPr/>
        </p:nvSpPr>
        <p:spPr>
          <a:xfrm>
            <a:off x="1078865" y="4561840"/>
            <a:ext cx="10117455" cy="70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ym typeface="+mn-ea"/>
              </a:rPr>
              <a:t>先让空壳服务跑通再动业务，把表结构、改一次要返工一大片"的决策全部前置成文档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078865" y="4622800"/>
            <a:ext cx="9387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先让空壳服务跑通再动业务，把表结构、状态机这些"改一次要返工一大片"的决策全部前置成文档</a:t>
            </a:r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>
            <a:off x="4699000" y="3380740"/>
            <a:ext cx="23596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1005" y="612775"/>
            <a:ext cx="3368675" cy="4013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后端测试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005" y="4375150"/>
            <a:ext cx="2482850" cy="248285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1005" y="612775"/>
            <a:ext cx="3368675" cy="4013200"/>
          </a:xfrm>
          <a:prstGeom prst="rect">
            <a:avLst/>
          </a:prstGeom>
        </p:spPr>
      </p:pic>
      <p:pic>
        <p:nvPicPr>
          <p:cNvPr id="19" name="图片 18" descr="9a9fedc2074583db04524aba9fc34d23"/>
          <p:cNvPicPr>
            <a:picLocks noChangeAspect="1"/>
          </p:cNvPicPr>
          <p:nvPr/>
        </p:nvPicPr>
        <p:blipFill>
          <a:blip r:embed="rId3"/>
          <a:srcRect b="39537"/>
          <a:stretch>
            <a:fillRect/>
          </a:stretch>
        </p:blipFill>
        <p:spPr>
          <a:xfrm>
            <a:off x="229235" y="1053465"/>
            <a:ext cx="4162425" cy="4146550"/>
          </a:xfrm>
          <a:prstGeom prst="rect">
            <a:avLst/>
          </a:prstGeom>
        </p:spPr>
      </p:pic>
      <p:pic>
        <p:nvPicPr>
          <p:cNvPr id="20" name="图片 19" descr="9a9fedc2074583db04524aba9fc34d23"/>
          <p:cNvPicPr>
            <a:picLocks noChangeAspect="1"/>
          </p:cNvPicPr>
          <p:nvPr/>
        </p:nvPicPr>
        <p:blipFill>
          <a:blip r:embed="rId3"/>
          <a:srcRect l="259" t="60361" r="-259"/>
          <a:stretch>
            <a:fillRect/>
          </a:stretch>
        </p:blipFill>
        <p:spPr>
          <a:xfrm>
            <a:off x="5836285" y="1053465"/>
            <a:ext cx="4162425" cy="271843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4633595" y="3862070"/>
            <a:ext cx="6965950" cy="28047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699000" y="3869690"/>
            <a:ext cx="70218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与队首买家进入交易，商品自动冻结</a:t>
            </a:r>
            <a:endParaRPr lang="zh-CN" altLang="en-US" sz="2400"/>
          </a:p>
          <a:p>
            <a:r>
              <a:rPr lang="zh-CN" altLang="en-US" sz="2400"/>
              <a:t>标记交易成功 / 失败；失败后自动递补下一位；</a:t>
            </a:r>
            <a:endParaRPr lang="zh-CN" altLang="en-US" sz="2400"/>
          </a:p>
          <a:p>
            <a:r>
              <a:rPr lang="zh-CN" altLang="en-US" sz="2400"/>
              <a:t>失败者可作废或重新排队</a:t>
            </a:r>
            <a:endParaRPr lang="zh-CN" altLang="en-US" sz="2400"/>
          </a:p>
          <a:p>
            <a:r>
              <a:rPr lang="zh-CN" altLang="en-US" sz="2400"/>
              <a:t>排队序号在写事务内串行分配，用 </a:t>
            </a:r>
            <a:r>
              <a:rPr lang="en-US" altLang="zh-CN" sz="2400"/>
              <a:t>SQLite WAL </a:t>
            </a:r>
            <a:r>
              <a:rPr lang="zh-CN" altLang="en-US" sz="2400"/>
              <a:t>模式+ </a:t>
            </a:r>
            <a:r>
              <a:rPr lang="en-US" altLang="zh-CN" sz="2400"/>
              <a:t>BEGIN IMMEDIATE + </a:t>
            </a:r>
            <a:r>
              <a:rPr lang="zh-CN" altLang="en-US" sz="2400"/>
              <a:t>进程内写锁，保证并发下"排队、冻结、递补"严格有序，不会出现两人拿到同一位次。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后端测试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005" y="4375150"/>
            <a:ext cx="2482850" cy="248285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231005" y="612775"/>
            <a:ext cx="3368675" cy="4013200"/>
          </a:xfrm>
          <a:prstGeom prst="rect">
            <a:avLst/>
          </a:prstGeom>
        </p:spPr>
      </p:pic>
      <p:pic>
        <p:nvPicPr>
          <p:cNvPr id="19" name="图片 18" descr="b8a5e0f6ceb6e7ef1cdb4f3703d79a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320" y="974725"/>
            <a:ext cx="5953125" cy="30956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502920" y="4329430"/>
            <a:ext cx="9901555" cy="228409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21335" y="4292600"/>
            <a:ext cx="96901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买家排队或重新排队时生成口令码；</a:t>
            </a:r>
            <a:endParaRPr lang="zh-CN" altLang="en-US" sz="2400"/>
          </a:p>
          <a:p>
            <a:r>
              <a:rPr lang="zh-CN" altLang="en-US" sz="2400"/>
              <a:t>口令码全生命周期：</a:t>
            </a:r>
            <a:r>
              <a:rPr lang="en-US" altLang="zh-CN" sz="2400"/>
              <a:t>secrets </a:t>
            </a:r>
            <a:r>
              <a:rPr lang="zh-CN" altLang="en-US" sz="2400"/>
              <a:t>生成 10 位、去除易混淆字符（0/</a:t>
            </a:r>
            <a:r>
              <a:rPr lang="en-US" altLang="zh-CN" sz="2400"/>
              <a:t>O/1/I）</a:t>
            </a:r>
            <a:r>
              <a:rPr lang="zh-CN" altLang="en-US" sz="2400"/>
              <a:t>的随机码；</a:t>
            </a:r>
            <a:endParaRPr lang="zh-CN" altLang="en-US" sz="2400"/>
          </a:p>
          <a:p>
            <a:r>
              <a:rPr lang="zh-CN" altLang="en-US" sz="2400"/>
              <a:t>在交易成功、交易失败、商品下架、买家撤销时即刻失效。</a:t>
            </a:r>
            <a:endParaRPr lang="zh-CN" altLang="en-US" sz="2400"/>
          </a:p>
          <a:p>
            <a:r>
              <a:rPr lang="zh-CN" altLang="en-US" sz="2400"/>
              <a:t>失败自动递补：交易失败后，失败者口令码立即失效，队首自动移到下一位并再次冻结，流程无缝衔接。</a:t>
            </a:r>
            <a:endParaRPr lang="zh-CN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后端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后端测试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237490" y="2832100"/>
            <a:ext cx="1581785" cy="95377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249555" y="3078480"/>
            <a:ext cx="1600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service </a:t>
            </a:r>
            <a:r>
              <a:rPr lang="zh-CN" altLang="en-US" sz="2400"/>
              <a:t>层</a:t>
            </a:r>
            <a:endParaRPr lang="zh-CN" altLang="en-US" sz="2400"/>
          </a:p>
        </p:txBody>
      </p:sp>
      <p:sp>
        <p:nvSpPr>
          <p:cNvPr id="19" name="右大括号 18"/>
          <p:cNvSpPr/>
          <p:nvPr/>
        </p:nvSpPr>
        <p:spPr>
          <a:xfrm rot="10800000">
            <a:off x="1903095" y="2044065"/>
            <a:ext cx="1144270" cy="2482850"/>
          </a:xfrm>
          <a:prstGeom prst="rightBrace">
            <a:avLst>
              <a:gd name="adj1" fmla="val 8333"/>
              <a:gd name="adj2" fmla="val 50000"/>
            </a:avLst>
          </a:prstGeom>
          <a:ln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320415" y="1938020"/>
            <a:ext cx="2952750" cy="460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320415" y="1938020"/>
            <a:ext cx="3735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FIFO </a:t>
            </a:r>
            <a:r>
              <a:rPr lang="zh-CN" altLang="en-US" sz="2400"/>
              <a:t>排队与交易冻结</a:t>
            </a:r>
            <a:endParaRPr lang="zh-CN" altLang="en-US" sz="2400"/>
          </a:p>
        </p:txBody>
      </p:sp>
      <p:sp>
        <p:nvSpPr>
          <p:cNvPr id="25" name="矩形 24"/>
          <p:cNvSpPr/>
          <p:nvPr/>
        </p:nvSpPr>
        <p:spPr>
          <a:xfrm>
            <a:off x="3267075" y="3012440"/>
            <a:ext cx="2952750" cy="460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320415" y="3007360"/>
            <a:ext cx="3069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失败后的自动递补</a:t>
            </a:r>
            <a:endParaRPr lang="zh-CN" altLang="en-US" sz="2400"/>
          </a:p>
        </p:txBody>
      </p:sp>
      <p:sp>
        <p:nvSpPr>
          <p:cNvPr id="26" name="矩形 25"/>
          <p:cNvSpPr/>
          <p:nvPr/>
        </p:nvSpPr>
        <p:spPr>
          <a:xfrm>
            <a:off x="3267075" y="4054475"/>
            <a:ext cx="2952750" cy="460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267075" y="4086860"/>
            <a:ext cx="37884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口令码全生命周期</a:t>
            </a:r>
            <a:endParaRPr lang="zh-CN" altLang="en-US" sz="2400"/>
          </a:p>
        </p:txBody>
      </p:sp>
      <p:sp>
        <p:nvSpPr>
          <p:cNvPr id="23" name="文本框 22"/>
          <p:cNvSpPr txBox="1"/>
          <p:nvPr/>
        </p:nvSpPr>
        <p:spPr>
          <a:xfrm>
            <a:off x="1849755" y="2611120"/>
            <a:ext cx="744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</a:t>
            </a:r>
            <a:r>
              <a:rPr lang="zh-CN" altLang="en-US"/>
              <a:t>个逻辑</a:t>
            </a:r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6995795" y="2027555"/>
            <a:ext cx="4690110" cy="78486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7052945" y="2024380"/>
            <a:ext cx="47193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问题</a:t>
            </a:r>
            <a:r>
              <a:rPr lang="zh-CN" altLang="en-US" sz="2400"/>
              <a:t>：交易失败后口令码已失效、若沿用旧码买家就会"失联"</a:t>
            </a:r>
            <a:endParaRPr lang="zh-CN" altLang="en-US" sz="2400"/>
          </a:p>
        </p:txBody>
      </p:sp>
      <p:sp>
        <p:nvSpPr>
          <p:cNvPr id="30" name="圆角矩形 29"/>
          <p:cNvSpPr/>
          <p:nvPr/>
        </p:nvSpPr>
        <p:spPr>
          <a:xfrm>
            <a:off x="7058660" y="3444875"/>
            <a:ext cx="4719955" cy="1123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9005" y="4375150"/>
            <a:ext cx="2482850" cy="24828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7058660" y="3387090"/>
            <a:ext cx="499618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解决办法：重新排队时生成新口令码，并把它标注为待团队确认的需求细节</a:t>
            </a:r>
            <a:endParaRPr lang="zh-CN" altLang="en-US" sz="240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04010" y="3055620"/>
            <a:ext cx="2272030" cy="54806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9875520" cy="459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CN" sz="26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测试</a:t>
            </a:r>
            <a:endParaRPr lang="zh-CN" sz="26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896112"/>
            <a:ext cx="502920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8992" y="896112"/>
            <a:ext cx="10607040" cy="1371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92824"/>
            <a:ext cx="73152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 i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 · 第 1 次阶段性评审 · 项目组 9</a:t>
            </a:r>
            <a:endParaRPr sz="1000" b="0" i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59282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000" b="1" i="0">
                <a:solidFill>
                  <a:srgbClr val="2E75B6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1" i="0">
              <a:solidFill>
                <a:srgbClr val="2E75B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0104120" y="3200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DE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sz="1100" b="1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后端测试</a:t>
            </a:r>
            <a:endParaRPr lang="zh-CN" sz="11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1"/>
            </p:custDataLst>
          </p:nvPr>
        </p:nvSpPr>
        <p:spPr>
          <a:xfrm>
            <a:off x="502920" y="1371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85800" y="15544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111/113</a:t>
            </a:r>
            <a:endParaRPr sz="3000" b="1" i="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3"/>
            </p:custDataLst>
          </p:nvPr>
        </p:nvSpPr>
        <p:spPr>
          <a:xfrm>
            <a:off x="685800" y="22860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首轮黑盒通过</a:t>
            </a:r>
            <a:endParaRPr sz="1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4"/>
            </p:custDataLst>
          </p:nvPr>
        </p:nvSpPr>
        <p:spPr>
          <a:xfrm>
            <a:off x="685800" y="26517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通过率 98.2%</a:t>
            </a:r>
            <a:endParaRPr sz="105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5"/>
            </p:custDataLst>
          </p:nvPr>
        </p:nvSpPr>
        <p:spPr>
          <a:xfrm>
            <a:off x="4288536" y="1371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6"/>
            </p:custDataLst>
          </p:nvPr>
        </p:nvSpPr>
        <p:spPr>
          <a:xfrm>
            <a:off x="4471416" y="15544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B8860B"/>
                </a:solidFill>
                <a:latin typeface="微软雅黑" panose="020B0503020204020204" charset="-122"/>
                <a:ea typeface="微软雅黑" panose="020B0503020204020204" charset="-122"/>
              </a:rPr>
              <a:t>2 条</a:t>
            </a:r>
            <a:endParaRPr sz="3000" b="1" i="0">
              <a:solidFill>
                <a:srgbClr val="B886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4471416" y="22860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未通过用例</a:t>
            </a:r>
            <a:endParaRPr sz="1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4471416" y="2651760"/>
            <a:ext cx="3246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已登记缺陷，附根因与修复方案</a:t>
            </a:r>
            <a:endParaRPr sz="105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9"/>
            </p:custDataLst>
          </p:nvPr>
        </p:nvSpPr>
        <p:spPr>
          <a:xfrm>
            <a:off x="8074151" y="1371600"/>
            <a:ext cx="3611880" cy="173736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1905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0"/>
            </p:custDataLst>
          </p:nvPr>
        </p:nvSpPr>
        <p:spPr>
          <a:xfrm>
            <a:off x="8257031" y="155448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28 条</a:t>
            </a:r>
            <a:endParaRPr sz="3000" b="1" i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1"/>
            </p:custDataLst>
          </p:nvPr>
        </p:nvSpPr>
        <p:spPr>
          <a:xfrm>
            <a:off x="8257031" y="228600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自动化回归</a:t>
            </a:r>
            <a:endParaRPr sz="14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2"/>
            </p:custDataLst>
          </p:nvPr>
        </p:nvSpPr>
        <p:spPr>
          <a:xfrm>
            <a:off x="8257031" y="2651760"/>
            <a:ext cx="3246120" cy="184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05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全部通过</a:t>
            </a:r>
            <a:endParaRPr sz="105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335" y="3352165"/>
            <a:ext cx="7315200" cy="56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en-US" sz="3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sz="3200"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存在</a:t>
            </a:r>
            <a:endParaRPr lang="zh-CN" altLang="en-US" sz="3200"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023360"/>
            <a:ext cx="5486400" cy="179451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5029200" cy="1513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BUG-001</a:t>
            </a: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　价格校验缺失</a:t>
            </a:r>
            <a:endParaRPr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lang="zh-CN" altLang="en-US"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发布商品时如果价格填成 0.001 元，接口会返回 </a:t>
            </a:r>
            <a:r>
              <a:rPr lang="en-US" altLang="zh-CN"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HTTP 500 </a:t>
            </a:r>
            <a:r>
              <a:rPr lang="zh-CN" altLang="en-US"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而不是参数校验错误。根因是后端只校验了"价格大于 0"，但换算成"分"之后变成 0，撞上了数据库的约束，异常没被捕获。</a:t>
            </a:r>
            <a:endParaRPr lang="zh-CN" altLang="en-US"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99505" y="4023360"/>
            <a:ext cx="5486400" cy="179451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160520"/>
            <a:ext cx="5029200" cy="9474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BUG-002</a:t>
            </a:r>
            <a:r>
              <a:rPr b="1" i="0">
                <a:solidFill>
                  <a:srgbClr val="1F3864"/>
                </a:solidFill>
                <a:latin typeface="微软雅黑" panose="020B0503020204020204" charset="-122"/>
                <a:ea typeface="微软雅黑" panose="020B0503020204020204" charset="-122"/>
              </a:rPr>
              <a:t>　LIKE 通配符未转义</a:t>
            </a:r>
            <a:endParaRPr b="1" i="0">
              <a:solidFill>
                <a:srgbClr val="1F386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0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模糊查询未转义通配符，可能导致查询结果越界，修复方案已登记。</a:t>
            </a:r>
            <a:endParaRPr sz="1600" b="0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36208"/>
            <a:ext cx="12191695" cy="7315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5"/>
          <p:cNvSpPr/>
          <p:nvPr/>
        </p:nvSpPr>
        <p:spPr bwMode="auto">
          <a:xfrm>
            <a:off x="1803746" y="0"/>
            <a:ext cx="1239467" cy="1746049"/>
          </a:xfrm>
          <a:custGeom>
            <a:avLst/>
            <a:gdLst/>
            <a:ahLst/>
            <a:cxnLst>
              <a:cxn ang="0">
                <a:pos x="307" y="353"/>
              </a:cxn>
              <a:cxn ang="0">
                <a:pos x="284" y="409"/>
              </a:cxn>
              <a:cxn ang="0">
                <a:pos x="229" y="432"/>
              </a:cxn>
              <a:cxn ang="0">
                <a:pos x="173" y="409"/>
              </a:cxn>
              <a:cxn ang="0">
                <a:pos x="157" y="385"/>
              </a:cxn>
              <a:cxn ang="0">
                <a:pos x="155" y="381"/>
              </a:cxn>
              <a:cxn ang="0">
                <a:pos x="0" y="0"/>
              </a:cxn>
              <a:cxn ang="0">
                <a:pos x="167" y="19"/>
              </a:cxn>
              <a:cxn ang="0">
                <a:pos x="298" y="317"/>
              </a:cxn>
              <a:cxn ang="0">
                <a:pos x="307" y="353"/>
              </a:cxn>
            </a:cxnLst>
            <a:rect l="0" t="0" r="r" b="b"/>
            <a:pathLst>
              <a:path w="307" h="432">
                <a:moveTo>
                  <a:pt x="307" y="353"/>
                </a:moveTo>
                <a:cubicBezTo>
                  <a:pt x="307" y="375"/>
                  <a:pt x="299" y="393"/>
                  <a:pt x="284" y="409"/>
                </a:cubicBezTo>
                <a:cubicBezTo>
                  <a:pt x="269" y="424"/>
                  <a:pt x="250" y="432"/>
                  <a:pt x="229" y="432"/>
                </a:cubicBezTo>
                <a:cubicBezTo>
                  <a:pt x="207" y="432"/>
                  <a:pt x="189" y="424"/>
                  <a:pt x="173" y="409"/>
                </a:cubicBezTo>
                <a:cubicBezTo>
                  <a:pt x="166" y="402"/>
                  <a:pt x="161" y="394"/>
                  <a:pt x="157" y="385"/>
                </a:cubicBezTo>
                <a:cubicBezTo>
                  <a:pt x="156" y="384"/>
                  <a:pt x="156" y="382"/>
                  <a:pt x="155" y="381"/>
                </a:cubicBezTo>
                <a:cubicBezTo>
                  <a:pt x="0" y="0"/>
                  <a:pt x="0" y="0"/>
                  <a:pt x="0" y="0"/>
                </a:cubicBezTo>
                <a:cubicBezTo>
                  <a:pt x="167" y="19"/>
                  <a:pt x="167" y="19"/>
                  <a:pt x="167" y="19"/>
                </a:cubicBezTo>
                <a:cubicBezTo>
                  <a:pt x="298" y="317"/>
                  <a:pt x="298" y="317"/>
                  <a:pt x="298" y="317"/>
                </a:cubicBezTo>
                <a:cubicBezTo>
                  <a:pt x="304" y="328"/>
                  <a:pt x="307" y="340"/>
                  <a:pt x="307" y="353"/>
                </a:cubicBezTo>
                <a:close/>
              </a:path>
            </a:pathLst>
          </a:custGeom>
          <a:solidFill>
            <a:srgbClr val="1F386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7" name="Freeform 6"/>
          <p:cNvSpPr/>
          <p:nvPr/>
        </p:nvSpPr>
        <p:spPr bwMode="auto">
          <a:xfrm>
            <a:off x="1120691" y="0"/>
            <a:ext cx="1357807" cy="1746049"/>
          </a:xfrm>
          <a:custGeom>
            <a:avLst/>
            <a:gdLst/>
            <a:ahLst/>
            <a:cxnLst>
              <a:cxn ang="0">
                <a:pos x="336" y="19"/>
              </a:cxn>
              <a:cxn ang="0">
                <a:pos x="153" y="380"/>
              </a:cxn>
              <a:cxn ang="0">
                <a:pos x="134" y="409"/>
              </a:cxn>
              <a:cxn ang="0">
                <a:pos x="79" y="432"/>
              </a:cxn>
              <a:cxn ang="0">
                <a:pos x="23" y="409"/>
              </a:cxn>
              <a:cxn ang="0">
                <a:pos x="0" y="353"/>
              </a:cxn>
              <a:cxn ang="0">
                <a:pos x="8" y="318"/>
              </a:cxn>
              <a:cxn ang="0">
                <a:pos x="11" y="314"/>
              </a:cxn>
              <a:cxn ang="0">
                <a:pos x="169" y="0"/>
              </a:cxn>
              <a:cxn ang="0">
                <a:pos x="336" y="19"/>
              </a:cxn>
            </a:cxnLst>
            <a:rect l="0" t="0" r="r" b="b"/>
            <a:pathLst>
              <a:path w="336" h="432">
                <a:moveTo>
                  <a:pt x="336" y="19"/>
                </a:moveTo>
                <a:cubicBezTo>
                  <a:pt x="153" y="380"/>
                  <a:pt x="153" y="380"/>
                  <a:pt x="153" y="380"/>
                </a:cubicBezTo>
                <a:cubicBezTo>
                  <a:pt x="149" y="391"/>
                  <a:pt x="143" y="400"/>
                  <a:pt x="134" y="409"/>
                </a:cubicBezTo>
                <a:cubicBezTo>
                  <a:pt x="119" y="424"/>
                  <a:pt x="100" y="432"/>
                  <a:pt x="79" y="432"/>
                </a:cubicBezTo>
                <a:cubicBezTo>
                  <a:pt x="57" y="432"/>
                  <a:pt x="39" y="424"/>
                  <a:pt x="23" y="409"/>
                </a:cubicBezTo>
                <a:cubicBezTo>
                  <a:pt x="8" y="393"/>
                  <a:pt x="0" y="375"/>
                  <a:pt x="0" y="353"/>
                </a:cubicBezTo>
                <a:cubicBezTo>
                  <a:pt x="0" y="341"/>
                  <a:pt x="3" y="329"/>
                  <a:pt x="8" y="318"/>
                </a:cubicBezTo>
                <a:cubicBezTo>
                  <a:pt x="9" y="317"/>
                  <a:pt x="10" y="316"/>
                  <a:pt x="11" y="314"/>
                </a:cubicBezTo>
                <a:cubicBezTo>
                  <a:pt x="169" y="0"/>
                  <a:pt x="169" y="0"/>
                  <a:pt x="169" y="0"/>
                </a:cubicBezTo>
                <a:lnTo>
                  <a:pt x="336" y="19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8" name="Freeform 7"/>
          <p:cNvSpPr/>
          <p:nvPr/>
        </p:nvSpPr>
        <p:spPr bwMode="auto">
          <a:xfrm>
            <a:off x="2837673" y="1280990"/>
            <a:ext cx="1511442" cy="1681687"/>
          </a:xfrm>
          <a:custGeom>
            <a:avLst/>
            <a:gdLst/>
            <a:ahLst/>
            <a:cxnLst>
              <a:cxn ang="0">
                <a:pos x="30" y="275"/>
              </a:cxn>
              <a:cxn ang="0">
                <a:pos x="334" y="0"/>
              </a:cxn>
              <a:cxn ang="0">
                <a:pos x="374" y="163"/>
              </a:cxn>
              <a:cxn ang="0">
                <a:pos x="139" y="388"/>
              </a:cxn>
              <a:cxn ang="0">
                <a:pos x="108" y="409"/>
              </a:cxn>
              <a:cxn ang="0">
                <a:pos x="48" y="406"/>
              </a:cxn>
              <a:cxn ang="0">
                <a:pos x="7" y="362"/>
              </a:cxn>
              <a:cxn ang="0">
                <a:pos x="10" y="302"/>
              </a:cxn>
              <a:cxn ang="0">
                <a:pos x="26" y="278"/>
              </a:cxn>
              <a:cxn ang="0">
                <a:pos x="30" y="275"/>
              </a:cxn>
            </a:cxnLst>
            <a:rect l="0" t="0" r="r" b="b"/>
            <a:pathLst>
              <a:path w="374" h="416">
                <a:moveTo>
                  <a:pt x="30" y="275"/>
                </a:moveTo>
                <a:cubicBezTo>
                  <a:pt x="334" y="0"/>
                  <a:pt x="334" y="0"/>
                  <a:pt x="334" y="0"/>
                </a:cubicBezTo>
                <a:cubicBezTo>
                  <a:pt x="374" y="163"/>
                  <a:pt x="374" y="163"/>
                  <a:pt x="374" y="163"/>
                </a:cubicBezTo>
                <a:cubicBezTo>
                  <a:pt x="139" y="388"/>
                  <a:pt x="139" y="388"/>
                  <a:pt x="139" y="388"/>
                </a:cubicBezTo>
                <a:cubicBezTo>
                  <a:pt x="131" y="397"/>
                  <a:pt x="120" y="404"/>
                  <a:pt x="108" y="409"/>
                </a:cubicBezTo>
                <a:cubicBezTo>
                  <a:pt x="87" y="416"/>
                  <a:pt x="67" y="415"/>
                  <a:pt x="48" y="406"/>
                </a:cubicBezTo>
                <a:cubicBezTo>
                  <a:pt x="28" y="397"/>
                  <a:pt x="14" y="382"/>
                  <a:pt x="7" y="362"/>
                </a:cubicBezTo>
                <a:cubicBezTo>
                  <a:pt x="0" y="342"/>
                  <a:pt x="1" y="322"/>
                  <a:pt x="10" y="302"/>
                </a:cubicBezTo>
                <a:cubicBezTo>
                  <a:pt x="14" y="293"/>
                  <a:pt x="20" y="285"/>
                  <a:pt x="26" y="278"/>
                </a:cubicBezTo>
                <a:cubicBezTo>
                  <a:pt x="27" y="277"/>
                  <a:pt x="29" y="276"/>
                  <a:pt x="30" y="275"/>
                </a:cubicBezTo>
                <a:close/>
              </a:path>
            </a:pathLst>
          </a:custGeom>
          <a:solidFill>
            <a:srgbClr val="1F386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9" name="Freeform 8"/>
          <p:cNvSpPr/>
          <p:nvPr/>
        </p:nvSpPr>
        <p:spPr bwMode="auto">
          <a:xfrm>
            <a:off x="2397527" y="1104516"/>
            <a:ext cx="1951588" cy="836692"/>
          </a:xfrm>
          <a:custGeom>
            <a:avLst/>
            <a:gdLst/>
            <a:ahLst/>
            <a:cxnLst>
              <a:cxn ang="0">
                <a:pos x="483" y="207"/>
              </a:cxn>
              <a:cxn ang="0">
                <a:pos x="81" y="158"/>
              </a:cxn>
              <a:cxn ang="0">
                <a:pos x="48" y="151"/>
              </a:cxn>
              <a:cxn ang="0">
                <a:pos x="7" y="106"/>
              </a:cxn>
              <a:cxn ang="0">
                <a:pos x="10" y="46"/>
              </a:cxn>
              <a:cxn ang="0">
                <a:pos x="54" y="6"/>
              </a:cxn>
              <a:cxn ang="0">
                <a:pos x="90" y="2"/>
              </a:cxn>
              <a:cxn ang="0">
                <a:pos x="94" y="2"/>
              </a:cxn>
              <a:cxn ang="0">
                <a:pos x="443" y="44"/>
              </a:cxn>
              <a:cxn ang="0">
                <a:pos x="483" y="207"/>
              </a:cxn>
            </a:cxnLst>
            <a:rect l="0" t="0" r="r" b="b"/>
            <a:pathLst>
              <a:path w="483" h="207">
                <a:moveTo>
                  <a:pt x="483" y="207"/>
                </a:moveTo>
                <a:cubicBezTo>
                  <a:pt x="81" y="158"/>
                  <a:pt x="81" y="158"/>
                  <a:pt x="81" y="158"/>
                </a:cubicBezTo>
                <a:cubicBezTo>
                  <a:pt x="70" y="158"/>
                  <a:pt x="59" y="156"/>
                  <a:pt x="48" y="151"/>
                </a:cubicBezTo>
                <a:cubicBezTo>
                  <a:pt x="28" y="141"/>
                  <a:pt x="14" y="127"/>
                  <a:pt x="7" y="106"/>
                </a:cubicBezTo>
                <a:cubicBezTo>
                  <a:pt x="0" y="86"/>
                  <a:pt x="1" y="66"/>
                  <a:pt x="10" y="46"/>
                </a:cubicBezTo>
                <a:cubicBezTo>
                  <a:pt x="19" y="27"/>
                  <a:pt x="34" y="13"/>
                  <a:pt x="54" y="6"/>
                </a:cubicBezTo>
                <a:cubicBezTo>
                  <a:pt x="66" y="2"/>
                  <a:pt x="78" y="0"/>
                  <a:pt x="90" y="2"/>
                </a:cubicBezTo>
                <a:cubicBezTo>
                  <a:pt x="91" y="2"/>
                  <a:pt x="93" y="2"/>
                  <a:pt x="94" y="2"/>
                </a:cubicBezTo>
                <a:cubicBezTo>
                  <a:pt x="443" y="44"/>
                  <a:pt x="443" y="44"/>
                  <a:pt x="443" y="44"/>
                </a:cubicBezTo>
                <a:lnTo>
                  <a:pt x="483" y="207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0" name="Freeform 9"/>
          <p:cNvSpPr/>
          <p:nvPr/>
        </p:nvSpPr>
        <p:spPr bwMode="auto">
          <a:xfrm>
            <a:off x="-164307" y="1108668"/>
            <a:ext cx="1959892" cy="795169"/>
          </a:xfrm>
          <a:custGeom>
            <a:avLst/>
            <a:gdLst/>
            <a:ahLst/>
            <a:cxnLst>
              <a:cxn ang="0">
                <a:pos x="409" y="158"/>
              </a:cxn>
              <a:cxn ang="0">
                <a:pos x="0" y="197"/>
              </a:cxn>
              <a:cxn ang="0">
                <a:pos x="66" y="43"/>
              </a:cxn>
              <a:cxn ang="0">
                <a:pos x="389" y="3"/>
              </a:cxn>
              <a:cxn ang="0">
                <a:pos x="426" y="5"/>
              </a:cxn>
              <a:cxn ang="0">
                <a:pos x="473" y="43"/>
              </a:cxn>
              <a:cxn ang="0">
                <a:pos x="479" y="102"/>
              </a:cxn>
              <a:cxn ang="0">
                <a:pos x="441" y="149"/>
              </a:cxn>
              <a:cxn ang="0">
                <a:pos x="414" y="158"/>
              </a:cxn>
              <a:cxn ang="0">
                <a:pos x="409" y="158"/>
              </a:cxn>
            </a:cxnLst>
            <a:rect l="0" t="0" r="r" b="b"/>
            <a:pathLst>
              <a:path w="485" h="197">
                <a:moveTo>
                  <a:pt x="409" y="158"/>
                </a:moveTo>
                <a:cubicBezTo>
                  <a:pt x="0" y="197"/>
                  <a:pt x="0" y="197"/>
                  <a:pt x="0" y="197"/>
                </a:cubicBezTo>
                <a:cubicBezTo>
                  <a:pt x="66" y="43"/>
                  <a:pt x="66" y="43"/>
                  <a:pt x="66" y="43"/>
                </a:cubicBezTo>
                <a:cubicBezTo>
                  <a:pt x="389" y="3"/>
                  <a:pt x="389" y="3"/>
                  <a:pt x="389" y="3"/>
                </a:cubicBezTo>
                <a:cubicBezTo>
                  <a:pt x="401" y="0"/>
                  <a:pt x="413" y="1"/>
                  <a:pt x="426" y="5"/>
                </a:cubicBezTo>
                <a:cubicBezTo>
                  <a:pt x="447" y="11"/>
                  <a:pt x="463" y="24"/>
                  <a:pt x="473" y="43"/>
                </a:cubicBezTo>
                <a:cubicBezTo>
                  <a:pt x="483" y="62"/>
                  <a:pt x="485" y="82"/>
                  <a:pt x="479" y="102"/>
                </a:cubicBezTo>
                <a:cubicBezTo>
                  <a:pt x="473" y="123"/>
                  <a:pt x="460" y="138"/>
                  <a:pt x="441" y="149"/>
                </a:cubicBezTo>
                <a:cubicBezTo>
                  <a:pt x="432" y="154"/>
                  <a:pt x="423" y="157"/>
                  <a:pt x="414" y="158"/>
                </a:cubicBezTo>
                <a:cubicBezTo>
                  <a:pt x="412" y="158"/>
                  <a:pt x="411" y="158"/>
                  <a:pt x="409" y="158"/>
                </a:cubicBezTo>
                <a:close/>
              </a:path>
            </a:pathLst>
          </a:custGeom>
          <a:solidFill>
            <a:srgbClr val="1F386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1" name="Freeform 10"/>
          <p:cNvSpPr/>
          <p:nvPr/>
        </p:nvSpPr>
        <p:spPr bwMode="auto">
          <a:xfrm>
            <a:off x="-193517" y="1280990"/>
            <a:ext cx="1592413" cy="1710754"/>
          </a:xfrm>
          <a:custGeom>
            <a:avLst/>
            <a:gdLst/>
            <a:ahLst/>
            <a:cxnLst>
              <a:cxn ang="0">
                <a:pos x="66" y="0"/>
              </a:cxn>
              <a:cxn ang="0">
                <a:pos x="359" y="279"/>
              </a:cxn>
              <a:cxn ang="0">
                <a:pos x="381" y="305"/>
              </a:cxn>
              <a:cxn ang="0">
                <a:pos x="387" y="364"/>
              </a:cxn>
              <a:cxn ang="0">
                <a:pos x="350" y="411"/>
              </a:cxn>
              <a:cxn ang="0">
                <a:pos x="290" y="417"/>
              </a:cxn>
              <a:cxn ang="0">
                <a:pos x="259" y="399"/>
              </a:cxn>
              <a:cxn ang="0">
                <a:pos x="256" y="396"/>
              </a:cxn>
              <a:cxn ang="0">
                <a:pos x="0" y="154"/>
              </a:cxn>
              <a:cxn ang="0">
                <a:pos x="66" y="0"/>
              </a:cxn>
            </a:cxnLst>
            <a:rect l="0" t="0" r="r" b="b"/>
            <a:pathLst>
              <a:path w="394" h="423">
                <a:moveTo>
                  <a:pt x="66" y="0"/>
                </a:moveTo>
                <a:cubicBezTo>
                  <a:pt x="359" y="279"/>
                  <a:pt x="359" y="279"/>
                  <a:pt x="359" y="279"/>
                </a:cubicBezTo>
                <a:cubicBezTo>
                  <a:pt x="368" y="285"/>
                  <a:pt x="376" y="294"/>
                  <a:pt x="381" y="305"/>
                </a:cubicBezTo>
                <a:cubicBezTo>
                  <a:pt x="392" y="324"/>
                  <a:pt x="394" y="344"/>
                  <a:pt x="387" y="364"/>
                </a:cubicBezTo>
                <a:cubicBezTo>
                  <a:pt x="381" y="385"/>
                  <a:pt x="369" y="401"/>
                  <a:pt x="350" y="411"/>
                </a:cubicBezTo>
                <a:cubicBezTo>
                  <a:pt x="331" y="421"/>
                  <a:pt x="311" y="423"/>
                  <a:pt x="290" y="417"/>
                </a:cubicBezTo>
                <a:cubicBezTo>
                  <a:pt x="278" y="413"/>
                  <a:pt x="267" y="407"/>
                  <a:pt x="259" y="399"/>
                </a:cubicBezTo>
                <a:cubicBezTo>
                  <a:pt x="257" y="398"/>
                  <a:pt x="256" y="397"/>
                  <a:pt x="256" y="396"/>
                </a:cubicBezTo>
                <a:cubicBezTo>
                  <a:pt x="0" y="154"/>
                  <a:pt x="0" y="154"/>
                  <a:pt x="0" y="154"/>
                </a:cubicBezTo>
                <a:lnTo>
                  <a:pt x="66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2" name="Freeform 11"/>
          <p:cNvSpPr/>
          <p:nvPr/>
        </p:nvSpPr>
        <p:spPr bwMode="auto">
          <a:xfrm>
            <a:off x="510301" y="2335678"/>
            <a:ext cx="876138" cy="2026329"/>
          </a:xfrm>
          <a:custGeom>
            <a:avLst/>
            <a:gdLst/>
            <a:ahLst/>
            <a:cxnLst>
              <a:cxn ang="0">
                <a:pos x="183" y="17"/>
              </a:cxn>
              <a:cxn ang="0">
                <a:pos x="215" y="67"/>
              </a:cxn>
              <a:cxn ang="0">
                <a:pos x="215" y="96"/>
              </a:cxn>
              <a:cxn ang="0">
                <a:pos x="214" y="100"/>
              </a:cxn>
              <a:cxn ang="0">
                <a:pos x="126" y="501"/>
              </a:cxn>
              <a:cxn ang="0">
                <a:pos x="0" y="391"/>
              </a:cxn>
              <a:cxn ang="0">
                <a:pos x="60" y="72"/>
              </a:cxn>
              <a:cxn ang="0">
                <a:pos x="74" y="37"/>
              </a:cxn>
              <a:cxn ang="0">
                <a:pos x="124" y="4"/>
              </a:cxn>
              <a:cxn ang="0">
                <a:pos x="183" y="17"/>
              </a:cxn>
            </a:cxnLst>
            <a:rect l="0" t="0" r="r" b="b"/>
            <a:pathLst>
              <a:path w="217" h="501">
                <a:moveTo>
                  <a:pt x="183" y="17"/>
                </a:moveTo>
                <a:cubicBezTo>
                  <a:pt x="201" y="29"/>
                  <a:pt x="211" y="46"/>
                  <a:pt x="215" y="67"/>
                </a:cubicBezTo>
                <a:cubicBezTo>
                  <a:pt x="217" y="77"/>
                  <a:pt x="217" y="87"/>
                  <a:pt x="215" y="96"/>
                </a:cubicBezTo>
                <a:cubicBezTo>
                  <a:pt x="215" y="97"/>
                  <a:pt x="215" y="99"/>
                  <a:pt x="214" y="100"/>
                </a:cubicBezTo>
                <a:cubicBezTo>
                  <a:pt x="126" y="501"/>
                  <a:pt x="126" y="501"/>
                  <a:pt x="126" y="501"/>
                </a:cubicBezTo>
                <a:cubicBezTo>
                  <a:pt x="0" y="391"/>
                  <a:pt x="0" y="391"/>
                  <a:pt x="0" y="391"/>
                </a:cubicBezTo>
                <a:cubicBezTo>
                  <a:pt x="60" y="72"/>
                  <a:pt x="60" y="72"/>
                  <a:pt x="60" y="72"/>
                </a:cubicBezTo>
                <a:cubicBezTo>
                  <a:pt x="62" y="59"/>
                  <a:pt x="66" y="48"/>
                  <a:pt x="74" y="37"/>
                </a:cubicBezTo>
                <a:cubicBezTo>
                  <a:pt x="86" y="19"/>
                  <a:pt x="103" y="8"/>
                  <a:pt x="124" y="4"/>
                </a:cubicBezTo>
                <a:cubicBezTo>
                  <a:pt x="146" y="0"/>
                  <a:pt x="165" y="4"/>
                  <a:pt x="183" y="17"/>
                </a:cubicBezTo>
                <a:close/>
              </a:path>
            </a:pathLst>
          </a:custGeom>
          <a:solidFill>
            <a:srgbClr val="1F386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3" name="Freeform 13"/>
          <p:cNvSpPr/>
          <p:nvPr/>
        </p:nvSpPr>
        <p:spPr bwMode="auto">
          <a:xfrm>
            <a:off x="1795442" y="3064408"/>
            <a:ext cx="1907989" cy="1276837"/>
          </a:xfrm>
          <a:custGeom>
            <a:avLst/>
            <a:gdLst/>
            <a:ahLst/>
            <a:cxnLst>
              <a:cxn ang="0">
                <a:pos x="325" y="316"/>
              </a:cxn>
              <a:cxn ang="0">
                <a:pos x="46" y="151"/>
              </a:cxn>
              <a:cxn ang="0">
                <a:pos x="17" y="126"/>
              </a:cxn>
              <a:cxn ang="0">
                <a:pos x="3" y="68"/>
              </a:cxn>
              <a:cxn ang="0">
                <a:pos x="34" y="17"/>
              </a:cxn>
              <a:cxn ang="0">
                <a:pos x="93" y="3"/>
              </a:cxn>
              <a:cxn ang="0">
                <a:pos x="120" y="13"/>
              </a:cxn>
              <a:cxn ang="0">
                <a:pos x="124" y="15"/>
              </a:cxn>
              <a:cxn ang="0">
                <a:pos x="472" y="234"/>
              </a:cxn>
              <a:cxn ang="0">
                <a:pos x="325" y="316"/>
              </a:cxn>
            </a:cxnLst>
            <a:rect l="0" t="0" r="r" b="b"/>
            <a:pathLst>
              <a:path w="472" h="316">
                <a:moveTo>
                  <a:pt x="325" y="316"/>
                </a:moveTo>
                <a:cubicBezTo>
                  <a:pt x="46" y="151"/>
                  <a:pt x="46" y="151"/>
                  <a:pt x="46" y="151"/>
                </a:cubicBezTo>
                <a:cubicBezTo>
                  <a:pt x="34" y="145"/>
                  <a:pt x="24" y="137"/>
                  <a:pt x="17" y="126"/>
                </a:cubicBezTo>
                <a:cubicBezTo>
                  <a:pt x="4" y="109"/>
                  <a:pt x="0" y="89"/>
                  <a:pt x="3" y="68"/>
                </a:cubicBezTo>
                <a:cubicBezTo>
                  <a:pt x="6" y="47"/>
                  <a:pt x="17" y="30"/>
                  <a:pt x="34" y="17"/>
                </a:cubicBezTo>
                <a:cubicBezTo>
                  <a:pt x="52" y="4"/>
                  <a:pt x="71" y="0"/>
                  <a:pt x="93" y="3"/>
                </a:cubicBezTo>
                <a:cubicBezTo>
                  <a:pt x="103" y="5"/>
                  <a:pt x="112" y="8"/>
                  <a:pt x="120" y="13"/>
                </a:cubicBezTo>
                <a:cubicBezTo>
                  <a:pt x="121" y="14"/>
                  <a:pt x="123" y="15"/>
                  <a:pt x="124" y="15"/>
                </a:cubicBezTo>
                <a:cubicBezTo>
                  <a:pt x="472" y="234"/>
                  <a:pt x="472" y="234"/>
                  <a:pt x="472" y="234"/>
                </a:cubicBezTo>
                <a:lnTo>
                  <a:pt x="325" y="316"/>
                </a:lnTo>
                <a:close/>
              </a:path>
            </a:pathLst>
          </a:custGeom>
          <a:solidFill>
            <a:srgbClr val="1F3864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4" name="Freeform 12"/>
          <p:cNvSpPr/>
          <p:nvPr/>
        </p:nvSpPr>
        <p:spPr bwMode="auto">
          <a:xfrm>
            <a:off x="510301" y="3068560"/>
            <a:ext cx="1943283" cy="1293447"/>
          </a:xfrm>
          <a:custGeom>
            <a:avLst/>
            <a:gdLst/>
            <a:ahLst/>
            <a:cxnLst>
              <a:cxn ang="0">
                <a:pos x="386" y="4"/>
              </a:cxn>
              <a:cxn ang="0">
                <a:pos x="445" y="16"/>
              </a:cxn>
              <a:cxn ang="0">
                <a:pos x="478" y="67"/>
              </a:cxn>
              <a:cxn ang="0">
                <a:pos x="465" y="125"/>
              </a:cxn>
              <a:cxn ang="0">
                <a:pos x="439" y="150"/>
              </a:cxn>
              <a:cxn ang="0">
                <a:pos x="435" y="151"/>
              </a:cxn>
              <a:cxn ang="0">
                <a:pos x="126" y="320"/>
              </a:cxn>
              <a:cxn ang="0">
                <a:pos x="0" y="210"/>
              </a:cxn>
              <a:cxn ang="0">
                <a:pos x="355" y="17"/>
              </a:cxn>
              <a:cxn ang="0">
                <a:pos x="386" y="4"/>
              </a:cxn>
            </a:cxnLst>
            <a:rect l="0" t="0" r="r" b="b"/>
            <a:pathLst>
              <a:path w="481" h="320">
                <a:moveTo>
                  <a:pt x="386" y="4"/>
                </a:moveTo>
                <a:cubicBezTo>
                  <a:pt x="408" y="0"/>
                  <a:pt x="427" y="4"/>
                  <a:pt x="445" y="16"/>
                </a:cubicBezTo>
                <a:cubicBezTo>
                  <a:pt x="463" y="28"/>
                  <a:pt x="474" y="45"/>
                  <a:pt x="478" y="67"/>
                </a:cubicBezTo>
                <a:cubicBezTo>
                  <a:pt x="481" y="88"/>
                  <a:pt x="477" y="107"/>
                  <a:pt x="465" y="125"/>
                </a:cubicBezTo>
                <a:cubicBezTo>
                  <a:pt x="458" y="136"/>
                  <a:pt x="449" y="144"/>
                  <a:pt x="439" y="150"/>
                </a:cubicBezTo>
                <a:cubicBezTo>
                  <a:pt x="437" y="150"/>
                  <a:pt x="436" y="151"/>
                  <a:pt x="435" y="151"/>
                </a:cubicBezTo>
                <a:cubicBezTo>
                  <a:pt x="126" y="320"/>
                  <a:pt x="126" y="320"/>
                  <a:pt x="126" y="320"/>
                </a:cubicBezTo>
                <a:cubicBezTo>
                  <a:pt x="0" y="210"/>
                  <a:pt x="0" y="210"/>
                  <a:pt x="0" y="210"/>
                </a:cubicBezTo>
                <a:cubicBezTo>
                  <a:pt x="355" y="17"/>
                  <a:pt x="355" y="17"/>
                  <a:pt x="355" y="17"/>
                </a:cubicBezTo>
                <a:cubicBezTo>
                  <a:pt x="364" y="10"/>
                  <a:pt x="375" y="6"/>
                  <a:pt x="386" y="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25" name="Freeform 14"/>
          <p:cNvSpPr/>
          <p:nvPr/>
        </p:nvSpPr>
        <p:spPr bwMode="auto">
          <a:xfrm>
            <a:off x="2845977" y="2312839"/>
            <a:ext cx="857454" cy="2028406"/>
          </a:xfrm>
          <a:custGeom>
            <a:avLst/>
            <a:gdLst/>
            <a:ahLst/>
            <a:cxnLst>
              <a:cxn ang="0">
                <a:pos x="143" y="35"/>
              </a:cxn>
              <a:cxn ang="0">
                <a:pos x="156" y="68"/>
              </a:cxn>
              <a:cxn ang="0">
                <a:pos x="157" y="72"/>
              </a:cxn>
              <a:cxn ang="0">
                <a:pos x="212" y="420"/>
              </a:cxn>
              <a:cxn ang="0">
                <a:pos x="65" y="502"/>
              </a:cxn>
              <a:cxn ang="0">
                <a:pos x="3" y="102"/>
              </a:cxn>
              <a:cxn ang="0">
                <a:pos x="2" y="68"/>
              </a:cxn>
              <a:cxn ang="0">
                <a:pos x="33" y="17"/>
              </a:cxn>
              <a:cxn ang="0">
                <a:pos x="92" y="3"/>
              </a:cxn>
              <a:cxn ang="0">
                <a:pos x="143" y="35"/>
              </a:cxn>
            </a:cxnLst>
            <a:rect l="0" t="0" r="r" b="b"/>
            <a:pathLst>
              <a:path w="212" h="502">
                <a:moveTo>
                  <a:pt x="143" y="35"/>
                </a:moveTo>
                <a:cubicBezTo>
                  <a:pt x="150" y="45"/>
                  <a:pt x="154" y="56"/>
                  <a:pt x="156" y="68"/>
                </a:cubicBezTo>
                <a:cubicBezTo>
                  <a:pt x="157" y="70"/>
                  <a:pt x="157" y="71"/>
                  <a:pt x="157" y="72"/>
                </a:cubicBezTo>
                <a:cubicBezTo>
                  <a:pt x="212" y="420"/>
                  <a:pt x="212" y="420"/>
                  <a:pt x="212" y="420"/>
                </a:cubicBezTo>
                <a:cubicBezTo>
                  <a:pt x="65" y="502"/>
                  <a:pt x="65" y="502"/>
                  <a:pt x="65" y="502"/>
                </a:cubicBezTo>
                <a:cubicBezTo>
                  <a:pt x="3" y="102"/>
                  <a:pt x="3" y="102"/>
                  <a:pt x="3" y="102"/>
                </a:cubicBezTo>
                <a:cubicBezTo>
                  <a:pt x="0" y="91"/>
                  <a:pt x="0" y="80"/>
                  <a:pt x="2" y="68"/>
                </a:cubicBezTo>
                <a:cubicBezTo>
                  <a:pt x="5" y="46"/>
                  <a:pt x="16" y="29"/>
                  <a:pt x="33" y="17"/>
                </a:cubicBezTo>
                <a:cubicBezTo>
                  <a:pt x="51" y="4"/>
                  <a:pt x="70" y="0"/>
                  <a:pt x="92" y="3"/>
                </a:cubicBezTo>
                <a:cubicBezTo>
                  <a:pt x="113" y="7"/>
                  <a:pt x="130" y="17"/>
                  <a:pt x="143" y="35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4" name="矩形 13"/>
          <p:cNvSpPr/>
          <p:nvPr/>
        </p:nvSpPr>
        <p:spPr>
          <a:xfrm>
            <a:off x="4573905" y="872490"/>
            <a:ext cx="6584950" cy="27470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500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ea typeface="微软雅黑" panose="020B0503020204020204" charset="-122"/>
              </a:rPr>
              <a:t>THANKS!</a:t>
            </a:r>
            <a:endParaRPr lang="zh-CN" altLang="en-US" sz="11500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ea typeface="微软雅黑" panose="020B0503020204020204" charset="-122"/>
            </a:endParaRP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4459723" y="3733261"/>
            <a:ext cx="6534607" cy="76944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CN" altLang="en-US" sz="4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感谢聆听 请多指点</a:t>
            </a:r>
            <a:endParaRPr lang="zh-CN" altLang="en-US" sz="4400" b="1" dirty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2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3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4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5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6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7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8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9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0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1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2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3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4.xml><?xml version="1.0" encoding="utf-8"?>
<p:tagLst xmlns:p="http://schemas.openxmlformats.org/presentationml/2006/main">
  <p:tag name="TABLE_ENDDRAG_ORIGIN_RECT" val="851*400"/>
  <p:tag name="TABLE_ENDDRAG_RECT" val="35*69*851*400"/>
</p:tagLst>
</file>

<file path=ppt/tags/tag15.xml><?xml version="1.0" encoding="utf-8"?>
<p:tagLst xmlns:p="http://schemas.openxmlformats.org/presentationml/2006/main">
  <p:tag name="KSO_WM_DIAGRAM_VIRTUALLY_FRAME" val="{&quot;height&quot;:259.10188976377947,&quot;left&quot;:29.443228346456692,&quot;top&quot;:243.95385826771653,&quot;width&quot;:930.5567716535434}"/>
</p:tagLst>
</file>

<file path=ppt/tags/tag16.xml><?xml version="1.0" encoding="utf-8"?>
<p:tagLst xmlns:p="http://schemas.openxmlformats.org/presentationml/2006/main">
  <p:tag name="KSO_WM_DIAGRAM_VIRTUALLY_FRAME" val="{&quot;height&quot;:259.10188976377947,&quot;left&quot;:29.443228346456692,&quot;top&quot;:243.95385826771653,&quot;width&quot;:930.5567716535434}"/>
</p:tagLst>
</file>

<file path=ppt/tags/tag17.xml><?xml version="1.0" encoding="utf-8"?>
<p:tagLst xmlns:p="http://schemas.openxmlformats.org/presentationml/2006/main">
  <p:tag name="KSO_WM_DIAGRAM_VIRTUALLY_FRAME" val="{&quot;height&quot;:259.10188976377947,&quot;left&quot;:29.443228346456692,&quot;top&quot;:243.95385826771653,&quot;width&quot;:930.5567716535434}"/>
</p:tagLst>
</file>

<file path=ppt/tags/tag18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19.xml><?xml version="1.0" encoding="utf-8"?>
<p:tagLst xmlns:p="http://schemas.openxmlformats.org/presentationml/2006/main">
  <p:tag name="TABLE_ENDDRAG_ORIGIN_RECT" val="576*351"/>
  <p:tag name="TABLE_ENDDRAG_RECT" val="352*115*576*351"/>
</p:tagLst>
</file>

<file path=ppt/tags/tag20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21.xml><?xml version="1.0" encoding="utf-8"?>
<p:tagLst xmlns:p="http://schemas.openxmlformats.org/presentationml/2006/main">
  <p:tag name="KSO_WM_DIAGRAM_VIRTUALLY_FRAME" val="{&quot;height&quot;:341.9999212598425,&quot;left&quot;:109.45,&quot;top&quot;:108.00003937007872,&quot;width&quot;:789.7}"/>
</p:tagLst>
</file>

<file path=ppt/tags/tag22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3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4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5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6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7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8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29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30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31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32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ags/tag33.xml><?xml version="1.0" encoding="utf-8"?>
<p:tagLst xmlns:p="http://schemas.openxmlformats.org/presentationml/2006/main">
  <p:tag name="KSO_WM_DIAGRAM_VIRTUALLY_FRAME" val="{&quot;height&quot;:136.8,&quot;left&quot;:39.6,&quot;top&quot;:108,&quot;width&quot;:880.55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5658</Words>
  <Application>WPS 演示</Application>
  <PresentationFormat>On-screen Show (4:3)</PresentationFormat>
  <Paragraphs>768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50" baseType="lpstr">
      <vt:lpstr>Arial</vt:lpstr>
      <vt:lpstr>宋体</vt:lpstr>
      <vt:lpstr>Wingdings</vt:lpstr>
      <vt:lpstr>Arial</vt:lpstr>
      <vt:lpstr>微软雅黑</vt:lpstr>
      <vt:lpstr>Roboto</vt:lpstr>
      <vt:lpstr>Times New Roman</vt:lpstr>
      <vt:lpstr>Open Sans</vt:lpstr>
      <vt:lpstr>FontAwesome</vt:lpstr>
      <vt:lpstr>仿宋</vt:lpstr>
      <vt:lpstr>汉仪尚巍手书W</vt:lpstr>
      <vt:lpstr>Lantinghei SC Demibold</vt:lpstr>
      <vt:lpstr>方正仿宋_GB2312</vt:lpstr>
      <vt:lpstr>Calibri</vt:lpstr>
      <vt:lpstr>Arial Unicode MS</vt:lpstr>
      <vt:lpstr>Segoe Print</vt:lpstr>
      <vt:lpstr>黑体</vt:lpstr>
      <vt:lpstr>Impact</vt:lpstr>
      <vt:lpstr>KSOFBE50A8BF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彼岸花开彼岸</cp:lastModifiedBy>
  <cp:revision>244</cp:revision>
  <dcterms:created xsi:type="dcterms:W3CDTF">2013-01-27T09:14:00Z</dcterms:created>
  <dcterms:modified xsi:type="dcterms:W3CDTF">2026-10-15T00:59:38Z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6C3CCED2C6E44315A57EE3817A03B496_12</vt:lpwstr>
  </property>
</Properties>
</file>